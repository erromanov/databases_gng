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2A44"/>
    <a:srgbClr val="E891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73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837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день! Мы представляем проект по дисциплине «Проектирование и реализация баз данных». Тема нашей работы — автоматизация учета продаж и закупок в компании «Sun bag», которая торгует сумками. Мы выполнили первый этап проектирования информационной системы — анализ функционального поведения системы с помощью DFD-диаграмм. [Представьтесь: ФИО каждого участника и роль в команде.]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«Sun bag» продает сумки через несколько магазинов. В компании работают директор, закупщик и продавцы; сумки закупаются у разных поставщиков. Директор анализирует модные тенденции и продажи, определяет ассортимент и дает рекомендации закупщику. Закупщик выбирает наиболее выгодного поставщика, оформляет заказ и следит за его исполнением. После поставки директор распределяет сумки по магазинам. Продавцы ежедневно отчитываются о продажах и делятся наблюдениями о спросе. Раз в неделю директор корректирует цены, раз в месяц поощряются лучшие продавцы. Сейчас эти процессы требуют автоматизации: нужно считать рейтинг поставщиков, находить самые продаваемые модели, распределять товар и выявлять самых старательных продавцов.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спроектировать функциональную модель АИС «Sun bag» и показать, как система ведет себя: какие процессы в ней есть, с кем она обменивается информацией и какие данные хранит. Для этого мы решили шесть задач: определили назначение системы, выделили основной процесс и внешние сущности, описали потоки данных, построили контекстную диаграмму уровня А-0, составили матрицу событий и построили детализированную диаграмму А0 с декомпозицией процессов.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моделирования мы использовали методологию потоков данных DFD. Она показывает процессы обработки информации, внешние сущности, хранилища и потоки между ними, поэтому удобна для общения с заказчиком и уточнения требований. Диаграммы построены в CASE-средстве [укажите: CA ERwin Process Modeler или аналог], презентация подготовлена в PowerPoint, командную работу мы вели в Zoom. При построении мы придерживались правил: от 2 до 6 процессов на диаграмме, процессы называются глаголами, у каждого хранилища есть вход и выход, внешние сущности не связаны между собой.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контекстная диаграмма уровня А-0. Вся система представлена одним процессом «Автоматизировать учет продаж и закупок». Вокруг него четыре внешние сущности. Директор получает от системы четыре отчета — по продажам, поставщикам, продавцам и распределению товара — а также список рекомендуемых поставщиков, и передает рекомендации по закупкам и информацию о поощрении. Закупщик отправляет заявку на заказ, получает отчет по поставщикам и общий список товаров. Поставщик получает заказ на поставку и договор о закупке, а подтверждает заказ. Продавец вносит информацию о продаже и получает список товаров по магазину и сумму своих продаж на текущую дату.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Матрица событий связывает каждое событие с источником, реакцией системы и потоками данных. Например, когда директор формирует рекомендации по закупкам, запускается процесс «Управлять закупками». Когда продавец продает сумку и вносит данные, процесс «Управлять продажами» записывает продажу в хранилище и возвращает продавцу сумму его продаж. Раз в месяц по итогам продаж запускается процесс поощрения лучших продавцов. Так мы определили все связи между сущностями, процессами и накопителями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диаграмме А0 система разбита на шесть процессов: А1 «Управлять поставщиками» с рейтингом, А2 «Управлять закупками», А3 «Поощрять продавцов», А4 «Вести анализ работы продавцов», А5 «Управлять продажами» и А6 «Распределение товаров в магазине». Данные хранятся в трех накопителях: D1 — база данных поставщиков, D2 — продажи с историей чеков, D3 — товары. Каждое хранилище имеет и вход, и выход: например, продажи записываются процессом А5 и используются в А4 для отчетов по продажам и продавцам. Информацию о поставщиках вносит закупщик, а отчет по ним получает директор.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Наиболее сложный процесс — «Управлять закупками» — мы детализировали на три элементарных процесса. В А2.1 директор формирует рекомендации по закупкам, на их основе закупщик оформляет заявку. В А2.2 заявки обрабатываются и заключается договор о закупке с поставщиком. В А2.3 оформляется и контролируется заказ, поставщик возвращает квитанцию об оплате, а данные согласованной закупки попадают обратно в систему. Элементарные процессы дальше не детализируются.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Подведем итоги. Цель достигнута: мы построили функциональную модель АИС «Sun bag». Мы определили назначение системы, выделили четыре внешние сущности, описали потоки данных, построили контекстную диаграмму А-0, составили матрицу событий и детализировали систему до шести процессов уровня А0 с декомпозицией закупок. Модель охватывает четыре ключевые задачи заказчика: рейтинг поставщиков, самые продаваемые модели, распределение товара по магазинам и оценку продавцов. Дальше на ее основе можно проектировать структуру базы данных.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797889" y="65370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7881069" y="569653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783B35-4D64-24CD-46E0-32E9FC276C40}"/>
              </a:ext>
            </a:extLst>
          </p:cNvPr>
          <p:cNvSpPr txBox="1"/>
          <p:nvPr/>
        </p:nvSpPr>
        <p:spPr>
          <a:xfrm>
            <a:off x="6797889" y="653700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FEFD47-67FA-CC9C-A247-DDA306E69DC7}"/>
              </a:ext>
            </a:extLst>
          </p:cNvPr>
          <p:cNvSpPr txBox="1"/>
          <p:nvPr/>
        </p:nvSpPr>
        <p:spPr>
          <a:xfrm>
            <a:off x="7881069" y="569653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B74B261-5474-8217-1C1F-DF8DF956D9C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5A92729-C745-7CCF-6847-2DF14BA7138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599" y="1386883"/>
            <a:ext cx="11185676" cy="4980051"/>
          </a:xfrm>
        </p:spPr>
        <p:txBody>
          <a:bodyPr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2667" baseline="0"/>
            </a:lvl1pPr>
            <a:lvl2pPr marL="609585" indent="0">
              <a:buFont typeface="Arial" panose="020B0604020202020204" pitchFamily="34" charset="0"/>
              <a:buNone/>
              <a:defRPr sz="3200"/>
            </a:lvl2pPr>
            <a:lvl3pPr marL="1219170" indent="0">
              <a:buFont typeface="Arial" panose="020B0604020202020204" pitchFamily="34" charset="0"/>
              <a:buNone/>
              <a:defRPr sz="2667"/>
            </a:lvl3pPr>
            <a:lvl4pPr marL="1828754" indent="0">
              <a:buFont typeface="Arial" panose="020B0604020202020204" pitchFamily="34" charset="0"/>
              <a:buNone/>
              <a:defRPr sz="2400"/>
            </a:lvl4pPr>
            <a:lvl5pPr marL="2438339" indent="0">
              <a:buFont typeface="Arial" panose="020B0604020202020204" pitchFamily="34" charset="0"/>
              <a:buNone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r>
              <a:rPr lang="ru-RU" sz="2667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667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4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4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71129202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kfq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0" y="1615925"/>
            <a:ext cx="9956800" cy="4596191"/>
          </a:xfr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67" baseline="0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r>
              <a:rPr lang="ru-RU" sz="32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3200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667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6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6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6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74940885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DC7664A4-1431-5B79-D831-F6220EA4364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332" y="2389715"/>
            <a:ext cx="4847773" cy="2098228"/>
          </a:xfrm>
        </p:spPr>
        <p:txBody>
          <a:bodyPr>
            <a:normAutofit/>
          </a:bodyPr>
          <a:lstStyle>
            <a:lvl1pPr marL="0" indent="0">
              <a:buNone/>
              <a:defRPr sz="2133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9A5E5274-1C05-A7BB-B9D5-BE8CD4A5E9F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333" y="15766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5FC28AB9-3129-9DBE-782C-D2B113A5A6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6895" y="4015315"/>
            <a:ext cx="4847773" cy="2098228"/>
          </a:xfrm>
        </p:spPr>
        <p:txBody>
          <a:bodyPr>
            <a:normAutofit/>
          </a:bodyPr>
          <a:lstStyle>
            <a:lvl1pPr marL="0" indent="0" algn="l">
              <a:buNone/>
              <a:defRPr sz="1867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6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12C4E9B1-800A-20F6-E4F7-84C6B3BE946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6895" y="32022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C1609-7E48-B73D-CDA4-19FD56B59E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00221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256F42A0-92A9-ED41-A4B6-1B839857D47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1" y="1249137"/>
            <a:ext cx="6144684" cy="5122873"/>
          </a:xfrm>
          <a:prstGeom prst="roundRect">
            <a:avLst>
              <a:gd name="adj" fmla="val 7784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44229" y="1538516"/>
            <a:ext cx="3376991" cy="4567161"/>
          </a:xfrm>
        </p:spPr>
        <p:txBody>
          <a:bodyPr>
            <a:normAutofit/>
          </a:bodyPr>
          <a:lstStyle>
            <a:lvl1pPr marL="0" indent="0">
              <a:buNone/>
              <a:defRPr sz="1600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r>
              <a:rPr lang="ru-RU" sz="1867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</p:spTree>
    <p:extLst>
      <p:ext uri="{BB962C8B-B14F-4D97-AF65-F5344CB8AC3E}">
        <p14:creationId xmlns:p14="http://schemas.microsoft.com/office/powerpoint/2010/main" val="16311326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60393FA-3ECC-3158-E15E-58890F60B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DB0C6-E4DE-9A4B-998D-34852F1B3E9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599" y="1386883"/>
            <a:ext cx="11185676" cy="4980051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</a:defRPr>
            </a:lvl1pPr>
            <a:lvl2pPr marL="609585" indent="0">
              <a:buFont typeface="Arial" panose="020B0604020202020204" pitchFamily="34" charset="0"/>
              <a:buNone/>
              <a:defRPr sz="3200"/>
            </a:lvl2pPr>
            <a:lvl3pPr marL="1219170" indent="0">
              <a:buFont typeface="Arial" panose="020B0604020202020204" pitchFamily="34" charset="0"/>
              <a:buNone/>
              <a:defRPr sz="2667"/>
            </a:lvl3pPr>
            <a:lvl4pPr marL="1828754" indent="0">
              <a:buFont typeface="Arial" panose="020B0604020202020204" pitchFamily="34" charset="0"/>
              <a:buNone/>
              <a:defRPr sz="2400"/>
            </a:lvl4pPr>
            <a:lvl5pPr marL="2438339" indent="0">
              <a:buFont typeface="Arial" panose="020B0604020202020204" pitchFamily="34" charset="0"/>
              <a:buNone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667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30162798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2151" y="1644953"/>
            <a:ext cx="9560076" cy="4547808"/>
          </a:xfrm>
        </p:spPr>
        <p:txBody>
          <a:bodyPr>
            <a:normAutofit/>
          </a:bodyPr>
          <a:lstStyle>
            <a:lvl1pPr marL="0" indent="0" algn="l">
              <a:buFontTx/>
              <a:buNone/>
              <a:defRPr sz="2133" baseline="0"/>
            </a:lvl1pPr>
            <a:lvl2pPr marL="609585" indent="0">
              <a:buFontTx/>
              <a:buNone/>
              <a:defRPr sz="2133" baseline="0"/>
            </a:lvl2pPr>
            <a:lvl3pPr marL="1219170" indent="0">
              <a:buFontTx/>
              <a:buNone/>
              <a:defRPr sz="2133" baseline="0"/>
            </a:lvl3pPr>
            <a:lvl4pPr marL="1828754" indent="0">
              <a:buFontTx/>
              <a:buNone/>
              <a:defRPr sz="2133" baseline="0"/>
            </a:lvl4pPr>
            <a:lvl5pPr>
              <a:buFontTx/>
              <a:buNone/>
              <a:defRPr sz="2133" baseline="0"/>
            </a:lvl5pPr>
          </a:lstStyle>
          <a:p>
            <a:r>
              <a:rPr lang="ru-RU" sz="2133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133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67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01151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Текст 7">
            <a:extLst>
              <a:ext uri="{FF2B5EF4-FFF2-40B4-BE49-F238E27FC236}">
                <a16:creationId xmlns:a16="http://schemas.microsoft.com/office/drawing/2014/main" id="{36D9692A-5DC0-3DF1-F516-70164F11C5A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332" y="2389715"/>
            <a:ext cx="4847773" cy="2098228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16" name="Текст 13">
            <a:extLst>
              <a:ext uri="{FF2B5EF4-FFF2-40B4-BE49-F238E27FC236}">
                <a16:creationId xmlns:a16="http://schemas.microsoft.com/office/drawing/2014/main" id="{C2C41F40-A63A-48C4-01DC-A4A13BB7B8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333" y="15766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D5B27C-CA4C-7381-3F84-F0595A76CE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Текст 7">
            <a:extLst>
              <a:ext uri="{FF2B5EF4-FFF2-40B4-BE49-F238E27FC236}">
                <a16:creationId xmlns:a16="http://schemas.microsoft.com/office/drawing/2014/main" id="{2AA24315-FE73-04A8-D530-E746EC0C202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6895" y="4015315"/>
            <a:ext cx="4847773" cy="2098228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6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69578C56-72EB-AE17-C6D4-CE1E8FBA306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6895" y="32022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110193153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AE2ED3E-3221-72A5-8340-4E08819C8F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19B43694-08A8-116E-FA12-468591D136C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1" y="1249137"/>
            <a:ext cx="6144684" cy="5122873"/>
          </a:xfrm>
          <a:prstGeom prst="roundRect">
            <a:avLst>
              <a:gd name="adj" fmla="val 7952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E75CB8B0-7394-87DF-B065-6F242AB2D01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44229" y="1538516"/>
            <a:ext cx="3376991" cy="4567161"/>
          </a:xfrm>
        </p:spPr>
        <p:txBody>
          <a:bodyPr>
            <a:normAutofit/>
          </a:bodyPr>
          <a:lstStyle>
            <a:lvl1pPr marL="0" indent="0" algn="l">
              <a:buNone/>
              <a:defRPr sz="1867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867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867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67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380502919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98E654-ABDC-7E78-775E-43A2D6214C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5D71CC7-EEA6-E9D0-68AD-36562CCF6071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599" y="1386883"/>
            <a:ext cx="11185676" cy="4980051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</a:defRPr>
            </a:lvl1pPr>
            <a:lvl2pPr marL="609585" indent="0">
              <a:buFont typeface="Arial" panose="020B0604020202020204" pitchFamily="34" charset="0"/>
              <a:buNone/>
              <a:defRPr sz="3200"/>
            </a:lvl2pPr>
            <a:lvl3pPr marL="1219170" indent="0">
              <a:buFont typeface="Arial" panose="020B0604020202020204" pitchFamily="34" charset="0"/>
              <a:buNone/>
              <a:defRPr sz="2667"/>
            </a:lvl3pPr>
            <a:lvl4pPr marL="1828754" indent="0">
              <a:buFont typeface="Arial" panose="020B0604020202020204" pitchFamily="34" charset="0"/>
              <a:buNone/>
              <a:defRPr sz="2400"/>
            </a:lvl4pPr>
            <a:lvl5pPr marL="2438339" indent="0">
              <a:buFont typeface="Arial" panose="020B0604020202020204" pitchFamily="34" charset="0"/>
              <a:buNone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667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3982275624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Текст 4">
            <a:extLst>
              <a:ext uri="{FF2B5EF4-FFF2-40B4-BE49-F238E27FC236}">
                <a16:creationId xmlns:a16="http://schemas.microsoft.com/office/drawing/2014/main" id="{8ABD215D-CFC7-1CAC-2144-1C4A51F1FEB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2151" y="1644953"/>
            <a:ext cx="9560076" cy="4547808"/>
          </a:xfrm>
        </p:spPr>
        <p:txBody>
          <a:bodyPr>
            <a:normAutofit/>
          </a:bodyPr>
          <a:lstStyle>
            <a:lvl1pPr marL="0" indent="0" algn="l">
              <a:buFontTx/>
              <a:buNone/>
              <a:defRPr sz="2133" baseline="0"/>
            </a:lvl1pPr>
            <a:lvl2pPr marL="609585" indent="0">
              <a:buFontTx/>
              <a:buNone/>
              <a:defRPr sz="2133" baseline="0"/>
            </a:lvl2pPr>
            <a:lvl3pPr marL="1219170" indent="0">
              <a:buFontTx/>
              <a:buNone/>
              <a:defRPr sz="2133" baseline="0"/>
            </a:lvl3pPr>
            <a:lvl4pPr marL="1828754" indent="0">
              <a:buFontTx/>
              <a:buNone/>
              <a:defRPr sz="2133" baseline="0"/>
            </a:lvl4pPr>
            <a:lvl5pPr>
              <a:buFontTx/>
              <a:buNone/>
              <a:defRPr sz="2133" baseline="0"/>
            </a:lvl5pPr>
          </a:lstStyle>
          <a:p>
            <a:r>
              <a:rPr lang="ru-RU" sz="2133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  <a:p>
            <a:endParaRPr lang="ru-RU" sz="2133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67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8569F4-01AC-6221-63B9-0F06F87F25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75267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7">
            <a:extLst>
              <a:ext uri="{FF2B5EF4-FFF2-40B4-BE49-F238E27FC236}">
                <a16:creationId xmlns:a16="http://schemas.microsoft.com/office/drawing/2014/main" id="{3706F3BB-2486-D68F-6966-44BBD62CEC6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332" y="2389715"/>
            <a:ext cx="4847773" cy="2098228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4" name="Текст 13">
            <a:extLst>
              <a:ext uri="{FF2B5EF4-FFF2-40B4-BE49-F238E27FC236}">
                <a16:creationId xmlns:a16="http://schemas.microsoft.com/office/drawing/2014/main" id="{49722966-1EC6-6348-3A3A-25A27C8E506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333" y="15766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5" name="Текст 7">
            <a:extLst>
              <a:ext uri="{FF2B5EF4-FFF2-40B4-BE49-F238E27FC236}">
                <a16:creationId xmlns:a16="http://schemas.microsoft.com/office/drawing/2014/main" id="{D2BFFE86-F97D-E925-927B-0F6BBD2D6EE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6895" y="4015315"/>
            <a:ext cx="4847773" cy="2098228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6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6" name="Текст 13">
            <a:extLst>
              <a:ext uri="{FF2B5EF4-FFF2-40B4-BE49-F238E27FC236}">
                <a16:creationId xmlns:a16="http://schemas.microsoft.com/office/drawing/2014/main" id="{ADAF316B-52C6-704E-CB38-0E76498CD5E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6895" y="32022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5D888714-60F8-FF59-CB87-38F52214F9F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9239587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8C44632-7642-B672-30DB-BEE8EBC23C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AF7BB137-1C7F-56D5-5D41-70ED6DEA4C5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1" y="1249137"/>
            <a:ext cx="6144684" cy="5122873"/>
          </a:xfrm>
          <a:prstGeom prst="roundRect">
            <a:avLst>
              <a:gd name="adj" fmla="val 895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D9C7E817-A2F7-D228-2EB2-8CC2710635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44229" y="1538516"/>
            <a:ext cx="3376991" cy="4567161"/>
          </a:xfrm>
        </p:spPr>
        <p:txBody>
          <a:bodyPr>
            <a:normAutofit/>
          </a:bodyPr>
          <a:lstStyle>
            <a:lvl1pPr marL="0" indent="0" algn="l">
              <a:buNone/>
              <a:defRPr sz="1867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867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867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67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89973026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1F5CFB9-FFF2-E218-2283-FA3AC247B8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1CCADC5-135D-DC69-A40F-E7939EE42C8E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09599" y="1386883"/>
            <a:ext cx="11185676" cy="4980051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</a:defRPr>
            </a:lvl1pPr>
            <a:lvl2pPr marL="609585" indent="0">
              <a:buFont typeface="Arial" panose="020B0604020202020204" pitchFamily="34" charset="0"/>
              <a:buNone/>
              <a:defRPr sz="3200"/>
            </a:lvl2pPr>
            <a:lvl3pPr marL="1219170" indent="0">
              <a:buFont typeface="Arial" panose="020B0604020202020204" pitchFamily="34" charset="0"/>
              <a:buNone/>
              <a:defRPr sz="2667"/>
            </a:lvl3pPr>
            <a:lvl4pPr marL="1828754" indent="0">
              <a:buFont typeface="Arial" panose="020B0604020202020204" pitchFamily="34" charset="0"/>
              <a:buNone/>
              <a:defRPr sz="2400"/>
            </a:lvl4pPr>
            <a:lvl5pPr marL="2438339" indent="0">
              <a:buFont typeface="Arial" panose="020B0604020202020204" pitchFamily="34" charset="0"/>
              <a:buNone/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2667" dirty="0">
                <a:latin typeface="Golos Text" panose="020B0503020202020204"/>
              </a:rPr>
              <a:t>Основной текст слайда, ключевая формулировка</a:t>
            </a:r>
          </a:p>
        </p:txBody>
      </p:sp>
    </p:spTree>
    <p:extLst>
      <p:ext uri="{BB962C8B-B14F-4D97-AF65-F5344CB8AC3E}">
        <p14:creationId xmlns:p14="http://schemas.microsoft.com/office/powerpoint/2010/main" val="10927413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Финал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4">
            <a:extLst>
              <a:ext uri="{FF2B5EF4-FFF2-40B4-BE49-F238E27FC236}">
                <a16:creationId xmlns:a16="http://schemas.microsoft.com/office/drawing/2014/main" id="{164235EB-093A-2BDE-8127-460B61C5B6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2151" y="1644953"/>
            <a:ext cx="9560076" cy="4547808"/>
          </a:xfrm>
        </p:spPr>
        <p:txBody>
          <a:bodyPr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2133" baseline="0"/>
            </a:lvl1pPr>
            <a:lvl2pPr marL="609585" indent="0">
              <a:buFontTx/>
              <a:buNone/>
              <a:defRPr sz="2133" baseline="0"/>
            </a:lvl2pPr>
            <a:lvl3pPr marL="1219170" indent="0">
              <a:buFontTx/>
              <a:buNone/>
              <a:defRPr sz="2133" baseline="0"/>
            </a:lvl3pPr>
            <a:lvl4pPr marL="1828754" indent="0">
              <a:buFontTx/>
              <a:buNone/>
              <a:defRPr sz="2133" baseline="0"/>
            </a:lvl4pPr>
            <a:lvl5pPr>
              <a:buFontTx/>
              <a:buNone/>
              <a:defRPr sz="2133" baseline="0"/>
            </a:lvl5pPr>
          </a:lstStyle>
          <a:p>
            <a:r>
              <a:rPr lang="ru-RU" sz="2133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</a:t>
            </a:r>
          </a:p>
          <a:p>
            <a:endParaRPr lang="ru-RU" sz="2133" dirty="0"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2133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133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133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133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конец списка.</a:t>
            </a:r>
          </a:p>
          <a:p>
            <a:pPr lvl="0"/>
            <a:endParaRPr lang="ru-RU" dirty="0"/>
          </a:p>
          <a:p>
            <a:pPr lvl="0"/>
            <a:endParaRPr lang="ru-RU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FFD6E8F6-2854-A3A1-FCCA-4BC7B8C564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120587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5FAEC5-3811-8889-0016-6EA3B2AC412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7">
            <a:extLst>
              <a:ext uri="{FF2B5EF4-FFF2-40B4-BE49-F238E27FC236}">
                <a16:creationId xmlns:a16="http://schemas.microsoft.com/office/drawing/2014/main" id="{CAC739FE-CC7A-A005-60BE-713B90BFE7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332" y="2389715"/>
            <a:ext cx="4847773" cy="2098228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r>
              <a:rPr lang="ru-RU" sz="1600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5" name="Текст 13">
            <a:extLst>
              <a:ext uri="{FF2B5EF4-FFF2-40B4-BE49-F238E27FC236}">
                <a16:creationId xmlns:a16="http://schemas.microsoft.com/office/drawing/2014/main" id="{0280BF47-780B-2175-23F6-FDC24D601FF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7333" y="15766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6" name="Текст 7">
            <a:extLst>
              <a:ext uri="{FF2B5EF4-FFF2-40B4-BE49-F238E27FC236}">
                <a16:creationId xmlns:a16="http://schemas.microsoft.com/office/drawing/2014/main" id="{E58E80D7-3F9A-CA73-1A7E-C864B8F1B1A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6895" y="4015315"/>
            <a:ext cx="4847773" cy="2098228"/>
          </a:xfrm>
        </p:spPr>
        <p:txBody>
          <a:bodyPr>
            <a:normAutofit/>
          </a:bodyPr>
          <a:lstStyle>
            <a:lvl1pPr marL="0" indent="0" algn="l">
              <a:buNone/>
              <a:defRPr sz="1600"/>
            </a:lvl1pPr>
            <a:lvl2pPr marL="609585" indent="0">
              <a:buNone/>
              <a:defRPr/>
            </a:lvl2pPr>
            <a:lvl3pPr marL="1219170" indent="0">
              <a:buNone/>
              <a:defRPr/>
            </a:lvl3pPr>
            <a:lvl4pPr marL="1828754" indent="0">
              <a:buNone/>
              <a:defRPr/>
            </a:lvl4pPr>
            <a:lvl5pPr marL="2438339" indent="0">
              <a:buFont typeface="Arial" panose="020B0604020202020204" pitchFamily="34" charset="0"/>
              <a:buNone/>
              <a:defRPr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600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600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600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  <p:sp>
        <p:nvSpPr>
          <p:cNvPr id="7" name="Текст 13">
            <a:extLst>
              <a:ext uri="{FF2B5EF4-FFF2-40B4-BE49-F238E27FC236}">
                <a16:creationId xmlns:a16="http://schemas.microsoft.com/office/drawing/2014/main" id="{BF0BE89B-425E-821E-10AB-56C164DAED3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66895" y="3202213"/>
            <a:ext cx="3947884" cy="793447"/>
          </a:xfrm>
        </p:spPr>
        <p:txBody>
          <a:bodyPr>
            <a:normAutofit/>
          </a:bodyPr>
          <a:lstStyle>
            <a:lvl1pPr marL="0" indent="0">
              <a:buNone/>
              <a:defRPr sz="2133" u="sng" baseline="0">
                <a:latin typeface="Golos Text DemiBold" panose="020B0703020202020204" pitchFamily="34" charset="-52"/>
              </a:defRPr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</p:spTree>
    <p:extLst>
      <p:ext uri="{BB962C8B-B14F-4D97-AF65-F5344CB8AC3E}">
        <p14:creationId xmlns:p14="http://schemas.microsoft.com/office/powerpoint/2010/main" val="2745552704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2">
            <a:extLst>
              <a:ext uri="{FF2B5EF4-FFF2-40B4-BE49-F238E27FC236}">
                <a16:creationId xmlns:a16="http://schemas.microsoft.com/office/drawing/2014/main" id="{F282CACE-D64E-E390-8227-23E049D60AA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1" y="1249137"/>
            <a:ext cx="6144684" cy="5122873"/>
          </a:xfrm>
          <a:prstGeom prst="roundRect">
            <a:avLst>
              <a:gd name="adj" fmla="val 761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FD893D5-8CB5-3E29-008C-CC0E0591AE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408580"/>
            <a:ext cx="9099176" cy="703045"/>
          </a:xfrm>
        </p:spPr>
        <p:txBody>
          <a:bodyPr>
            <a:normAutofit/>
          </a:bodyPr>
          <a:lstStyle>
            <a:lvl1pPr>
              <a:defRPr sz="4267" baseline="0">
                <a:solidFill>
                  <a:schemeClr val="bg1"/>
                </a:solidFill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6E126262-C015-9DD6-F87F-1B632AE7449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344229" y="1538516"/>
            <a:ext cx="3376991" cy="4567161"/>
          </a:xfrm>
        </p:spPr>
        <p:txBody>
          <a:bodyPr>
            <a:normAutofit/>
          </a:bodyPr>
          <a:lstStyle>
            <a:lvl1pPr marL="0" indent="0" algn="l">
              <a:buNone/>
              <a:defRPr sz="1867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Pct val="100000"/>
              <a:buFont typeface="Arial" panose="020B0604020202020204" pitchFamily="34" charset="0"/>
              <a:buNone/>
              <a:tabLst/>
              <a:defRPr/>
            </a:pPr>
            <a:r>
              <a:rPr lang="ru-RU" sz="1867" dirty="0">
                <a:latin typeface="Golos Text" panose="020B0503020202020204"/>
              </a:rPr>
              <a:t>Основной текст слайда, ключевая формулировка.</a:t>
            </a:r>
          </a:p>
          <a:p>
            <a:pPr marL="0" indent="0" algn="l">
              <a:buNone/>
            </a:pPr>
            <a:endParaRPr lang="en-US" sz="1867" b="1" i="0" dirty="0">
              <a:solidFill>
                <a:srgbClr val="2C2D2E"/>
              </a:solidFill>
              <a:effectLst/>
              <a:latin typeface="Golos Text" panose="020B0503020202020204"/>
            </a:endParaRPr>
          </a:p>
          <a:p>
            <a:pPr marL="0" indent="0" algn="l">
              <a:buNone/>
            </a:pPr>
            <a:r>
              <a:rPr lang="ru-RU" sz="1867" b="1" i="0" dirty="0">
                <a:solidFill>
                  <a:srgbClr val="2C2D2E"/>
                </a:solidFill>
                <a:effectLst/>
                <a:latin typeface="Golos Text" panose="020B0503020202020204"/>
              </a:rPr>
              <a:t>Начало списка: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список;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867" b="0" i="0" dirty="0">
                <a:solidFill>
                  <a:srgbClr val="2C2D2E"/>
                </a:solidFill>
                <a:effectLst/>
                <a:latin typeface="Golos Text" panose="020B0503020202020204"/>
              </a:rPr>
              <a:t> конец списка.</a:t>
            </a:r>
          </a:p>
        </p:txBody>
      </p:sp>
    </p:spTree>
    <p:extLst>
      <p:ext uri="{BB962C8B-B14F-4D97-AF65-F5344CB8AC3E}">
        <p14:creationId xmlns:p14="http://schemas.microsoft.com/office/powerpoint/2010/main" val="154187302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36571" y="1257611"/>
            <a:ext cx="7368420" cy="5167381"/>
          </a:xfrm>
        </p:spPr>
        <p:txBody>
          <a:bodyPr>
            <a:normAutofit/>
          </a:bodyPr>
          <a:lstStyle>
            <a:lvl1pPr marL="0" indent="0">
              <a:buNone/>
              <a:defRPr sz="1867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r>
              <a:rPr lang="ru-RU" sz="1867" dirty="0">
                <a:latin typeface="Golos Text" panose="020B0503020202020204"/>
              </a:rPr>
              <a:t>Здесь при необходимости располагается основной текст слайда, ключевая формулировка.</a:t>
            </a:r>
          </a:p>
        </p:txBody>
      </p:sp>
      <p:sp>
        <p:nvSpPr>
          <p:cNvPr id="6" name="Рисунок 2">
            <a:extLst>
              <a:ext uri="{FF2B5EF4-FFF2-40B4-BE49-F238E27FC236}">
                <a16:creationId xmlns:a16="http://schemas.microsoft.com/office/drawing/2014/main" id="{E0DDF7E5-74E5-85B7-0EAB-6118F548A98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1257612"/>
            <a:ext cx="3376992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7936B987-FE27-33B7-4612-FDB9F2B35C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" y="3914294"/>
            <a:ext cx="3376992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6242872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9_Пользовательский макет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6">
            <a:extLst>
              <a:ext uri="{FF2B5EF4-FFF2-40B4-BE49-F238E27FC236}">
                <a16:creationId xmlns:a16="http://schemas.microsoft.com/office/drawing/2014/main" id="{604BBFFB-7572-35FA-4787-0F445C5632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1" y="1412429"/>
            <a:ext cx="5196115" cy="2312904"/>
          </a:xfrm>
        </p:spPr>
        <p:txBody>
          <a:bodyPr>
            <a:normAutofit/>
          </a:bodyPr>
          <a:lstStyle>
            <a:lvl1pPr marL="0" indent="0">
              <a:buNone/>
              <a:defRPr sz="1867" baseline="0">
                <a:solidFill>
                  <a:schemeClr val="bg1"/>
                </a:solidFill>
              </a:defRPr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r>
              <a:rPr lang="ru-RU" sz="1867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BFD2DD0-1A50-CC19-1239-4EE4F12EA91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3" y="4141116"/>
            <a:ext cx="5196112" cy="2187113"/>
          </a:xfrm>
        </p:spPr>
        <p:txBody>
          <a:bodyPr>
            <a:normAutofit/>
          </a:bodyPr>
          <a:lstStyle>
            <a:lvl1pPr marL="0" indent="0">
              <a:buNone/>
              <a:defRPr sz="1867" baseline="0">
                <a:solidFill>
                  <a:schemeClr val="bg1"/>
                </a:solidFill>
              </a:defRPr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r>
              <a:rPr lang="ru-RU" sz="1867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5" name="Текст 6">
            <a:extLst>
              <a:ext uri="{FF2B5EF4-FFF2-40B4-BE49-F238E27FC236}">
                <a16:creationId xmlns:a16="http://schemas.microsoft.com/office/drawing/2014/main" id="{73A9D63A-5180-ED0A-F619-007A1570C1E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86286" y="1412430"/>
            <a:ext cx="4842935" cy="4915799"/>
          </a:xfrm>
        </p:spPr>
        <p:txBody>
          <a:bodyPr>
            <a:normAutofit/>
          </a:bodyPr>
          <a:lstStyle>
            <a:lvl1pPr marL="0" indent="0">
              <a:buNone/>
              <a:defRPr sz="1867" baseline="0">
                <a:solidFill>
                  <a:schemeClr val="bg1"/>
                </a:solidFill>
              </a:defRPr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r>
              <a:rPr lang="ru-RU" sz="1867" dirty="0">
                <a:latin typeface="Golos Text" panose="020B0503020202020204"/>
              </a:rPr>
              <a:t>Основной текст слайда, ключевая формулировка.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075CB2-AC7B-1521-E0C8-0618DBE0FE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3979313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609602" y="3911870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4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4279273" y="3911870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7959739" y="3911870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1" y="4383771"/>
            <a:ext cx="3451844" cy="1860731"/>
          </a:xfrm>
        </p:spPr>
        <p:txBody>
          <a:bodyPr>
            <a:normAutofit/>
          </a:bodyPr>
          <a:lstStyle>
            <a:lvl1pPr marL="0" indent="0">
              <a:buNone/>
              <a:defRPr sz="1600" baseline="0"/>
            </a:lvl1pPr>
            <a:lvl2pPr>
              <a:defRPr sz="2133"/>
            </a:lvl2pPr>
            <a:lvl3pPr>
              <a:defRPr sz="2133"/>
            </a:lvl3pPr>
            <a:lvl4pPr>
              <a:defRPr sz="2133"/>
            </a:lvl4pPr>
            <a:lvl5pPr>
              <a:defRPr sz="2133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276335" y="4399437"/>
            <a:ext cx="3455221" cy="1860731"/>
          </a:xfrm>
        </p:spPr>
        <p:txBody>
          <a:bodyPr>
            <a:noAutofit/>
          </a:bodyPr>
          <a:lstStyle>
            <a:lvl1pPr marL="0" indent="0">
              <a:buNone/>
              <a:defRPr sz="1600" baseline="0"/>
            </a:lvl1pPr>
            <a:lvl2pPr>
              <a:defRPr sz="1600" baseline="0"/>
            </a:lvl2pPr>
            <a:lvl3pPr>
              <a:defRPr sz="1600" baseline="0"/>
            </a:lvl3pPr>
            <a:lvl4pPr>
              <a:defRPr sz="1600" baseline="0"/>
            </a:lvl4pPr>
            <a:lvl5pPr>
              <a:defRPr sz="1600" baseline="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84827D-CE53-9591-037D-C963F1C740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5AE50A46-F4A6-68CE-7C12-AA2301388718}"/>
              </a:ext>
            </a:extLst>
          </p:cNvPr>
          <p:cNvSpPr>
            <a:spLocks noGrp="1"/>
          </p:cNvSpPr>
          <p:nvPr>
            <p:ph sz="half" idx="26" hasCustomPrompt="1"/>
          </p:nvPr>
        </p:nvSpPr>
        <p:spPr>
          <a:xfrm>
            <a:off x="7956800" y="4399437"/>
            <a:ext cx="3455221" cy="1860731"/>
          </a:xfrm>
        </p:spPr>
        <p:txBody>
          <a:bodyPr>
            <a:noAutofit/>
          </a:bodyPr>
          <a:lstStyle>
            <a:lvl1pPr marL="0" indent="0">
              <a:buNone/>
              <a:defRPr sz="1600" baseline="0"/>
            </a:lvl1pPr>
            <a:lvl2pPr>
              <a:defRPr sz="1600" baseline="0"/>
            </a:lvl2pPr>
            <a:lvl3pPr>
              <a:defRPr sz="1600" baseline="0"/>
            </a:lvl3pPr>
            <a:lvl4pPr>
              <a:defRPr sz="1600" baseline="0"/>
            </a:lvl4pPr>
            <a:lvl5pPr>
              <a:defRPr sz="1600" baseline="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2AB405F-D2C7-9CD0-F8A2-C5B08DACE9F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5442" y="1259285"/>
            <a:ext cx="3436001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20D20C24-934F-4A5C-CF04-B479AF2D0D5F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95556" y="1259284"/>
            <a:ext cx="3436001" cy="2510697"/>
          </a:xfrm>
          <a:prstGeom prst="roundRect">
            <a:avLst>
              <a:gd name="adj" fmla="val 12905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6" name="Рисунок 2">
            <a:extLst>
              <a:ext uri="{FF2B5EF4-FFF2-40B4-BE49-F238E27FC236}">
                <a16:creationId xmlns:a16="http://schemas.microsoft.com/office/drawing/2014/main" id="{2D750E3A-97C5-5CBE-A3C9-0F2565E569EE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7974254" y="1259285"/>
            <a:ext cx="3436001" cy="2510697"/>
          </a:xfrm>
          <a:prstGeom prst="roundRect">
            <a:avLst>
              <a:gd name="adj" fmla="val 10512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6617301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7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E555EF72-8579-6966-364E-7EB76150977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44191" y="1265773"/>
            <a:ext cx="3860800" cy="5194299"/>
          </a:xfrm>
        </p:spPr>
        <p:txBody>
          <a:bodyPr>
            <a:normAutofit/>
          </a:bodyPr>
          <a:lstStyle>
            <a:lvl1pPr marL="0" indent="0">
              <a:buNone/>
              <a:defRPr sz="1867" b="0" i="0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4" name="Рисунок 2">
            <a:extLst>
              <a:ext uri="{FF2B5EF4-FFF2-40B4-BE49-F238E27FC236}">
                <a16:creationId xmlns:a16="http://schemas.microsoft.com/office/drawing/2014/main" id="{F1233E17-1183-B76E-8FDC-B4E51177D94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09600" y="1265773"/>
            <a:ext cx="3376992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8" name="Рисунок 2">
            <a:extLst>
              <a:ext uri="{FF2B5EF4-FFF2-40B4-BE49-F238E27FC236}">
                <a16:creationId xmlns:a16="http://schemas.microsoft.com/office/drawing/2014/main" id="{D225B0AE-7C4E-EA08-3FB1-DC344CD7244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126895" y="1265772"/>
            <a:ext cx="3376992" cy="2510697"/>
          </a:xfrm>
          <a:prstGeom prst="roundRect">
            <a:avLst>
              <a:gd name="adj" fmla="val 11879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8F0CB042-A157-2892-A9F3-8F41034FBC2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26895" y="3949376"/>
            <a:ext cx="3376992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B7890194-FBA6-DE42-AD42-307D6F999BE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09599" y="3949376"/>
            <a:ext cx="3376992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59231331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AA1A601-605F-FFE8-0BFA-9EB221F44B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4" name="Текст 6">
            <a:extLst>
              <a:ext uri="{FF2B5EF4-FFF2-40B4-BE49-F238E27FC236}">
                <a16:creationId xmlns:a16="http://schemas.microsoft.com/office/drawing/2014/main" id="{46AE54EB-260E-9A56-307F-307DC6AE32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09601" y="1284530"/>
            <a:ext cx="3376992" cy="2510697"/>
          </a:xfrm>
        </p:spPr>
        <p:txBody>
          <a:bodyPr>
            <a:normAutofit/>
          </a:bodyPr>
          <a:lstStyle>
            <a:lvl1pPr marL="0" indent="0">
              <a:buNone/>
              <a:defRPr sz="2400" b="1" i="0" baseline="0"/>
            </a:lvl1pPr>
            <a:lvl2pPr marL="609585" indent="0">
              <a:buNone/>
              <a:defRPr sz="1867" baseline="0"/>
            </a:lvl2pPr>
            <a:lvl3pPr marL="1219170" indent="0">
              <a:buNone/>
              <a:defRPr sz="1867" baseline="0"/>
            </a:lvl3pPr>
            <a:lvl4pPr marL="1828754" indent="0">
              <a:buNone/>
              <a:defRPr sz="1867" baseline="0"/>
            </a:lvl4pPr>
            <a:lvl5pPr marL="2438339" indent="0">
              <a:buFont typeface="Arial" panose="020B0604020202020204" pitchFamily="34" charset="0"/>
              <a:buNone/>
              <a:defRPr sz="1867" baseline="0"/>
            </a:lvl5pPr>
          </a:lstStyle>
          <a:p>
            <a:pPr lvl="0"/>
            <a:r>
              <a:rPr lang="ru-RU" dirty="0"/>
              <a:t>Ключевая фраза слайда</a:t>
            </a:r>
          </a:p>
        </p:txBody>
      </p:sp>
      <p:sp>
        <p:nvSpPr>
          <p:cNvPr id="7" name="Рисунок 2">
            <a:extLst>
              <a:ext uri="{FF2B5EF4-FFF2-40B4-BE49-F238E27FC236}">
                <a16:creationId xmlns:a16="http://schemas.microsoft.com/office/drawing/2014/main" id="{20DDEE97-30A5-E948-6E23-28FB2BCF96F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126895" y="1284530"/>
            <a:ext cx="3376992" cy="2510697"/>
          </a:xfrm>
          <a:prstGeom prst="roundRect">
            <a:avLst>
              <a:gd name="adj" fmla="val 11537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0" name="Рисунок 2">
            <a:extLst>
              <a:ext uri="{FF2B5EF4-FFF2-40B4-BE49-F238E27FC236}">
                <a16:creationId xmlns:a16="http://schemas.microsoft.com/office/drawing/2014/main" id="{AAC08422-7D47-2B7E-7D28-680BC07B364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644188" y="1289238"/>
            <a:ext cx="3376992" cy="2510697"/>
          </a:xfrm>
          <a:prstGeom prst="roundRect">
            <a:avLst>
              <a:gd name="adj" fmla="val 11196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4D0F3CB7-1C07-A606-10E8-3541ED42DF3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644188" y="3938724"/>
            <a:ext cx="3376992" cy="2510697"/>
          </a:xfrm>
          <a:prstGeom prst="roundRect">
            <a:avLst>
              <a:gd name="adj" fmla="val 8802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AFE5227E-AF6F-5CD4-3762-3B690A4EFAC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126895" y="3947086"/>
            <a:ext cx="3376992" cy="2510697"/>
          </a:xfrm>
          <a:prstGeom prst="roundRect">
            <a:avLst>
              <a:gd name="adj" fmla="val 8459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F1DACFFD-7F12-BA1F-C994-00039280C0A0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09600" y="3947086"/>
            <a:ext cx="3376992" cy="2510697"/>
          </a:xfrm>
          <a:prstGeom prst="roundRect">
            <a:avLst>
              <a:gd name="adj" fmla="val 10169"/>
            </a:avLst>
          </a:prstGeom>
        </p:spPr>
        <p:txBody>
          <a:bodyPr/>
          <a:lstStyle/>
          <a:p>
            <a:r>
              <a:rPr lang="ru-RU" smtClean="0"/>
              <a:t>Вставка рисунка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89209217"/>
      </p:ext>
    </p:extLst>
  </p:cSld>
  <p:clrMapOvr>
    <a:masterClrMapping/>
  </p:clrMapOvr>
  <p:hf sldNum="0" hdr="0" ftr="0" dt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/>
          <p:cNvSpPr>
            <a:spLocks noGrp="1"/>
          </p:cNvSpPr>
          <p:nvPr>
            <p:ph type="body" sz="quarter" idx="20" hasCustomPrompt="1"/>
          </p:nvPr>
        </p:nvSpPr>
        <p:spPr>
          <a:xfrm>
            <a:off x="609602" y="3156861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6" name="Text Placeholder 24"/>
          <p:cNvSpPr>
            <a:spLocks noGrp="1"/>
          </p:cNvSpPr>
          <p:nvPr>
            <p:ph type="body" sz="quarter" idx="21" hasCustomPrompt="1"/>
          </p:nvPr>
        </p:nvSpPr>
        <p:spPr>
          <a:xfrm>
            <a:off x="4367759" y="3156861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7" name="Text Placeholder 24"/>
          <p:cNvSpPr>
            <a:spLocks noGrp="1"/>
          </p:cNvSpPr>
          <p:nvPr>
            <p:ph type="body" sz="quarter" idx="22" hasCustomPrompt="1"/>
          </p:nvPr>
        </p:nvSpPr>
        <p:spPr>
          <a:xfrm>
            <a:off x="8114275" y="3156861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F822C9-93DB-8981-8DE8-9669C842C91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1" y="408580"/>
            <a:ext cx="8389257" cy="703045"/>
          </a:xfrm>
        </p:spPr>
        <p:txBody>
          <a:bodyPr>
            <a:normAutofit/>
          </a:bodyPr>
          <a:lstStyle>
            <a:lvl1pPr>
              <a:defRPr sz="4267" baseline="0">
                <a:latin typeface="Golos Text DemiBold" panose="020B0703020202020204" pitchFamily="34" charset="-52"/>
              </a:defRPr>
            </a:lvl1pPr>
          </a:lstStyle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11" name="Рисунок 2">
            <a:extLst>
              <a:ext uri="{FF2B5EF4-FFF2-40B4-BE49-F238E27FC236}">
                <a16:creationId xmlns:a16="http://schemas.microsoft.com/office/drawing/2014/main" id="{ABC6181E-5380-5398-36BA-70EAD01E6B61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>
          <a:xfrm>
            <a:off x="605401" y="1270143"/>
            <a:ext cx="3452284" cy="1739059"/>
          </a:xfrm>
          <a:prstGeom prst="roundRect">
            <a:avLst>
              <a:gd name="adj" fmla="val 9261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2" name="Рисунок 2">
            <a:extLst>
              <a:ext uri="{FF2B5EF4-FFF2-40B4-BE49-F238E27FC236}">
                <a16:creationId xmlns:a16="http://schemas.microsoft.com/office/drawing/2014/main" id="{6C8F21F1-75B3-D8F1-2DB5-6F70F86F1DBF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>
          <a:xfrm>
            <a:off x="4367758" y="1270143"/>
            <a:ext cx="3452284" cy="1739059"/>
          </a:xfrm>
          <a:prstGeom prst="roundRect">
            <a:avLst>
              <a:gd name="adj" fmla="val 11730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3" name="Рисунок 2">
            <a:extLst>
              <a:ext uri="{FF2B5EF4-FFF2-40B4-BE49-F238E27FC236}">
                <a16:creationId xmlns:a16="http://schemas.microsoft.com/office/drawing/2014/main" id="{276AF22E-2A7E-F9AB-5142-9D689D32BAC7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>
          <a:xfrm>
            <a:off x="8119719" y="1270143"/>
            <a:ext cx="3452284" cy="1739059"/>
          </a:xfrm>
          <a:prstGeom prst="roundRect">
            <a:avLst>
              <a:gd name="adj" fmla="val 10249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14" name="Text Placeholder 24">
            <a:extLst>
              <a:ext uri="{FF2B5EF4-FFF2-40B4-BE49-F238E27FC236}">
                <a16:creationId xmlns:a16="http://schemas.microsoft.com/office/drawing/2014/main" id="{4381B90F-578B-03FE-3E62-01B123DDCA0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3803" y="5708529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5" name="Text Placeholder 24">
            <a:extLst>
              <a:ext uri="{FF2B5EF4-FFF2-40B4-BE49-F238E27FC236}">
                <a16:creationId xmlns:a16="http://schemas.microsoft.com/office/drawing/2014/main" id="{78F39546-2C38-A484-9527-E82840466A9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4371961" y="5708529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17" name="Text Placeholder 24">
            <a:extLst>
              <a:ext uri="{FF2B5EF4-FFF2-40B4-BE49-F238E27FC236}">
                <a16:creationId xmlns:a16="http://schemas.microsoft.com/office/drawing/2014/main" id="{62CF135A-DC57-BFA7-737D-7E89CABB270B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8118477" y="5708529"/>
            <a:ext cx="3452284" cy="358775"/>
          </a:xfrm>
        </p:spPr>
        <p:txBody>
          <a:bodyPr>
            <a:normAutofit/>
          </a:bodyPr>
          <a:lstStyle>
            <a:lvl1pPr marL="0" indent="0">
              <a:buFont typeface="Arial"/>
              <a:buNone/>
              <a:defRPr sz="1600" b="1" i="0" baseline="0"/>
            </a:lvl1pPr>
          </a:lstStyle>
          <a:p>
            <a:pPr lvl="0"/>
            <a:r>
              <a:rPr lang="ru-RU" dirty="0"/>
              <a:t>Подзаголовок</a:t>
            </a:r>
          </a:p>
        </p:txBody>
      </p:sp>
      <p:sp>
        <p:nvSpPr>
          <p:cNvPr id="23" name="Рисунок 2">
            <a:extLst>
              <a:ext uri="{FF2B5EF4-FFF2-40B4-BE49-F238E27FC236}">
                <a16:creationId xmlns:a16="http://schemas.microsoft.com/office/drawing/2014/main" id="{F2DF9285-C300-85F5-A106-92A286165DE1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>
          <a:xfrm>
            <a:off x="609602" y="3821811"/>
            <a:ext cx="3452284" cy="1739059"/>
          </a:xfrm>
          <a:prstGeom prst="roundRect">
            <a:avLst>
              <a:gd name="adj" fmla="val 12224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24" name="Рисунок 2">
            <a:extLst>
              <a:ext uri="{FF2B5EF4-FFF2-40B4-BE49-F238E27FC236}">
                <a16:creationId xmlns:a16="http://schemas.microsoft.com/office/drawing/2014/main" id="{3E7EB42F-DA19-C666-2E68-46C62D12946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4371959" y="3821811"/>
            <a:ext cx="3452284" cy="1739059"/>
          </a:xfrm>
          <a:prstGeom prst="roundRect">
            <a:avLst>
              <a:gd name="adj" fmla="val 11236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1" name="Рисунок 2">
            <a:extLst>
              <a:ext uri="{FF2B5EF4-FFF2-40B4-BE49-F238E27FC236}">
                <a16:creationId xmlns:a16="http://schemas.microsoft.com/office/drawing/2014/main" id="{8819B960-AE2A-9E43-B370-CD1D6A1ACE8D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>
          <a:xfrm>
            <a:off x="8123921" y="3821811"/>
            <a:ext cx="3452284" cy="1739059"/>
          </a:xfrm>
          <a:prstGeom prst="roundRect">
            <a:avLst>
              <a:gd name="adj" fmla="val 9755"/>
            </a:avLst>
          </a:prstGeom>
        </p:spPr>
        <p:txBody>
          <a:bodyPr/>
          <a:lstStyle>
            <a:lvl1pPr>
              <a:defRPr/>
            </a:lvl1pPr>
          </a:lstStyle>
          <a:p>
            <a:r>
              <a:rPr lang="ru-RU" dirty="0"/>
              <a:t>Изображение</a:t>
            </a:r>
          </a:p>
        </p:txBody>
      </p:sp>
    </p:spTree>
    <p:extLst>
      <p:ext uri="{BB962C8B-B14F-4D97-AF65-F5344CB8AC3E}">
        <p14:creationId xmlns:p14="http://schemas.microsoft.com/office/powerpoint/2010/main" val="3108068934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6601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408579"/>
            <a:ext cx="10972800" cy="82731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Заголовок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95884"/>
            <a:ext cx="10972800" cy="3866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-1153401" y="551216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D3E97-5D7A-1D29-BA55-742D76C1C8C4}"/>
              </a:ext>
            </a:extLst>
          </p:cNvPr>
          <p:cNvSpPr txBox="1"/>
          <p:nvPr/>
        </p:nvSpPr>
        <p:spPr>
          <a:xfrm>
            <a:off x="-1153401" y="5512168"/>
            <a:ext cx="1847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1622758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</p:sldLayoutIdLst>
  <p:hf sldNum="0" hdr="0" ftr="0" dt="0"/>
  <p:txStyles>
    <p:titleStyle>
      <a:lvl1pPr algn="l" defTabSz="609585" rtl="0" eaLnBrk="1" latinLnBrk="0" hangingPunct="1">
        <a:spcBef>
          <a:spcPct val="0"/>
        </a:spcBef>
        <a:buNone/>
        <a:defRPr sz="4800" b="1" i="0" kern="1200" baseline="0">
          <a:solidFill>
            <a:schemeClr val="tx1"/>
          </a:solidFill>
          <a:latin typeface="ALS Gorizont Bold Expanded" panose="00000805000000000000" pitchFamily="50" charset="0"/>
          <a:ea typeface="+mj-ea"/>
          <a:cs typeface="+mj-cs"/>
        </a:defRPr>
      </a:lvl1pPr>
    </p:titleStyle>
    <p:bodyStyle>
      <a:lvl1pPr marL="0" indent="0" algn="l" defTabSz="609585" rtl="0" eaLnBrk="1" latinLnBrk="0" hangingPunct="1">
        <a:spcBef>
          <a:spcPct val="20000"/>
        </a:spcBef>
        <a:buSzPct val="100000"/>
        <a:buFont typeface="Arial" panose="020B0604020202020204" pitchFamily="34" charset="0"/>
        <a:buNone/>
        <a:defRPr sz="2667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1pPr>
      <a:lvl2pPr marL="990575" indent="-380990" algn="l" defTabSz="609585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2pPr>
      <a:lvl3pPr marL="1523962" indent="-304792" algn="l" defTabSz="609585" rtl="0" eaLnBrk="1" latinLnBrk="0" hangingPunct="1">
        <a:spcBef>
          <a:spcPct val="20000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3pPr>
      <a:lvl4pPr marL="2133547" indent="-304792" algn="l" defTabSz="609585" rtl="0" eaLnBrk="1" latinLnBrk="0" hangingPunct="1">
        <a:spcBef>
          <a:spcPct val="20000"/>
        </a:spcBef>
        <a:buFont typeface="Arial" panose="020B0604020202020204" pitchFamily="34" charset="0"/>
        <a:buChar char="•"/>
        <a:defRPr sz="2133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4pPr>
      <a:lvl5pPr marL="2438339" indent="0" algn="l" defTabSz="609585" rtl="0" eaLnBrk="1" latinLnBrk="0" hangingPunct="1">
        <a:spcBef>
          <a:spcPct val="20000"/>
        </a:spcBef>
        <a:buFont typeface="Arial" panose="020B0604020202020204" pitchFamily="34" charset="0"/>
        <a:buNone/>
        <a:defRPr sz="2133" kern="1200">
          <a:solidFill>
            <a:schemeClr val="tx1"/>
          </a:solidFill>
          <a:latin typeface="Golos Text" panose="020B0503020202020204" pitchFamily="34" charset="-52"/>
          <a:ea typeface="+mn-ea"/>
          <a:cs typeface="Golos Text" panose="020B0503020202020204" pitchFamily="34" charset="-52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48640" y="1371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учета продаж и закупок сумок в компании «Sun bag»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834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Функциональная модель АИС на основе DFD-диаграмм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Выполнили: </a:t>
            </a:r>
            <a:r>
              <a:rPr lang="ru-RU" sz="1800" dirty="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Вараксина Кира</a:t>
            </a:r>
            <a:r>
              <a:rPr lang="en-US" sz="180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K3241</a:t>
            </a:r>
            <a:r>
              <a:rPr lang="ru-RU" sz="180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ru-RU" sz="1800" dirty="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Романов Егор, </a:t>
            </a:r>
            <a:r>
              <a:rPr lang="ru-RU" sz="1800" dirty="0" err="1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Газизова</a:t>
            </a:r>
            <a:r>
              <a:rPr lang="ru-RU" sz="1800" dirty="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Карина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ru-RU" sz="1800" dirty="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</a:t>
            </a:r>
            <a:r>
              <a:rPr lang="en-US" sz="1800" dirty="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ru-RU" sz="1800" dirty="0" smtClean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Говорова Марина Михайловна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E3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Дисциплина: Проектирование и реализация баз данных</a:t>
            </a:r>
            <a:endParaRPr lang="en-US" sz="1800" dirty="0"/>
          </a:p>
        </p:txBody>
      </p:sp>
      <p:pic>
        <p:nvPicPr>
          <p:cNvPr id="13" name="Рисунок 12"/>
          <p:cNvPicPr>
            <a:picLocks noChangeAspect="1"/>
          </p:cNvPicPr>
          <p:nvPr/>
        </p:nvPicPr>
        <p:blipFill>
          <a:blip r:embed="rId3">
            <a:clrChange>
              <a:clrFrom>
                <a:srgbClr val="18273E"/>
              </a:clrFrom>
              <a:clrTo>
                <a:srgbClr val="18273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48640" y="138076"/>
            <a:ext cx="1682181" cy="127565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77240" y="20179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Предметная область</a:t>
            </a:r>
            <a:endParaRPr lang="en-US" sz="3000" dirty="0"/>
          </a:p>
        </p:txBody>
      </p:sp>
      <p:sp>
        <p:nvSpPr>
          <p:cNvPr id="6" name="Rounded Rectangle 3"/>
          <p:cNvSpPr/>
          <p:nvPr/>
        </p:nvSpPr>
        <p:spPr>
          <a:xfrm>
            <a:off x="340403" y="2766848"/>
            <a:ext cx="3870960" cy="2330144"/>
          </a:xfrm>
          <a:prstGeom prst="roundRect">
            <a:avLst/>
          </a:prstGeom>
          <a:solidFill>
            <a:srgbClr val="F8F8F8"/>
          </a:solidFill>
          <a:ln>
            <a:solidFill>
              <a:srgbClr val="B2B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EC0B43"/>
                </a:solidFill>
                <a:latin typeface="Calibri"/>
              </a:defRPr>
            </a:pPr>
            <a:r>
              <a:rPr lang="ru-RU" dirty="0" smtClean="0">
                <a:solidFill>
                  <a:srgbClr val="E8913A"/>
                </a:solidFill>
              </a:rPr>
              <a:t>Компания</a:t>
            </a:r>
            <a:r>
              <a:rPr dirty="0" smtClean="0">
                <a:solidFill>
                  <a:srgbClr val="E8913A"/>
                </a:solidFill>
              </a:rPr>
              <a:t> </a:t>
            </a:r>
            <a:r>
              <a:rPr dirty="0">
                <a:solidFill>
                  <a:srgbClr val="E8913A"/>
                </a:solidFill>
              </a:rPr>
              <a:t>«Sun Bag»</a:t>
            </a:r>
          </a:p>
          <a:p>
            <a:pPr algn="ctr">
              <a:spcBef>
                <a:spcPts val="7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rPr lang="ru-RU" sz="1400" dirty="0" smtClean="0">
                <a:latin typeface="Golos Text"/>
              </a:rPr>
              <a:t>Компания занимается продажей сумок</a:t>
            </a:r>
            <a:r>
              <a:rPr sz="1400" dirty="0" smtClean="0">
                <a:latin typeface="Golos Text"/>
              </a:rPr>
              <a:t>. </a:t>
            </a:r>
            <a:endParaRPr lang="ru-RU" sz="1400" dirty="0" smtClean="0">
              <a:latin typeface="Golos Text"/>
            </a:endParaRPr>
          </a:p>
          <a:p>
            <a:pPr algn="ctr">
              <a:spcBef>
                <a:spcPts val="7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rPr lang="ru-RU" sz="1400" dirty="0">
                <a:latin typeface="Golos Text"/>
              </a:rPr>
              <a:t>В системе учитываются </a:t>
            </a:r>
            <a:r>
              <a:rPr lang="ru-RU" sz="1400" dirty="0" smtClean="0">
                <a:latin typeface="Golos Text"/>
              </a:rPr>
              <a:t>закупки, товары, продажи и работу продавцов</a:t>
            </a:r>
            <a:r>
              <a:rPr sz="1400" dirty="0" smtClean="0"/>
              <a:t>.</a:t>
            </a:r>
            <a:endParaRPr sz="1400" dirty="0"/>
          </a:p>
        </p:txBody>
      </p:sp>
      <p:sp>
        <p:nvSpPr>
          <p:cNvPr id="7" name="Rounded Rectangle 4"/>
          <p:cNvSpPr/>
          <p:nvPr/>
        </p:nvSpPr>
        <p:spPr>
          <a:xfrm>
            <a:off x="4267987" y="1686910"/>
            <a:ext cx="3870960" cy="2330144"/>
          </a:xfrm>
          <a:prstGeom prst="roundRect">
            <a:avLst/>
          </a:prstGeom>
          <a:solidFill>
            <a:srgbClr val="F8F8F8"/>
          </a:solidFill>
          <a:ln>
            <a:solidFill>
              <a:srgbClr val="B2B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EC0B43"/>
                </a:solidFill>
                <a:latin typeface="Calibri"/>
              </a:defRPr>
            </a:pPr>
            <a:r>
              <a:rPr lang="ru-RU" dirty="0" smtClean="0">
                <a:solidFill>
                  <a:srgbClr val="E8913A"/>
                </a:solidFill>
              </a:rPr>
              <a:t>Участники</a:t>
            </a:r>
            <a:endParaRPr dirty="0">
              <a:solidFill>
                <a:srgbClr val="E8913A"/>
              </a:solidFill>
            </a:endParaRPr>
          </a:p>
          <a:p>
            <a:pPr algn="ctr">
              <a:spcBef>
                <a:spcPts val="7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rPr lang="ru-RU" sz="1400" dirty="0" smtClean="0"/>
              <a:t>Директор, закупщик, продавцы, поставщики</a:t>
            </a:r>
            <a:endParaRPr sz="1400" dirty="0"/>
          </a:p>
        </p:txBody>
      </p:sp>
      <p:sp>
        <p:nvSpPr>
          <p:cNvPr id="8" name="Rounded Rectangle 5"/>
          <p:cNvSpPr/>
          <p:nvPr/>
        </p:nvSpPr>
        <p:spPr>
          <a:xfrm>
            <a:off x="8195571" y="2766848"/>
            <a:ext cx="3870960" cy="2330144"/>
          </a:xfrm>
          <a:prstGeom prst="roundRect">
            <a:avLst/>
          </a:prstGeom>
          <a:solidFill>
            <a:srgbClr val="F8F8F8"/>
          </a:solidFill>
          <a:ln>
            <a:solidFill>
              <a:srgbClr val="B2B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28016" rIns="164592" rtlCol="0" anchor="ctr"/>
          <a:lstStyle/>
          <a:p>
            <a:pPr algn="ctr">
              <a:defRPr sz="1700" b="1">
                <a:solidFill>
                  <a:srgbClr val="EC0B43"/>
                </a:solidFill>
                <a:latin typeface="Calibri"/>
              </a:defRPr>
            </a:pPr>
            <a:r>
              <a:rPr lang="ru-RU" dirty="0" smtClean="0">
                <a:solidFill>
                  <a:srgbClr val="E8913A"/>
                </a:solidFill>
              </a:rPr>
              <a:t>Ключевые процессы</a:t>
            </a:r>
            <a:endParaRPr dirty="0">
              <a:solidFill>
                <a:srgbClr val="E8913A"/>
              </a:solidFill>
            </a:endParaRPr>
          </a:p>
          <a:p>
            <a:pPr algn="ctr">
              <a:spcBef>
                <a:spcPts val="700"/>
              </a:spcBef>
              <a:defRPr sz="1300">
                <a:solidFill>
                  <a:srgbClr val="000000"/>
                </a:solidFill>
                <a:latin typeface="Calibri"/>
              </a:defRPr>
            </a:pPr>
            <a:r>
              <a:rPr lang="ru-RU" dirty="0" smtClean="0"/>
              <a:t>Закупка и поставка товаров, распределение по магазинам, продажи, анализ и поощрение продавцов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801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Спроектировать функциональную модель АИС «Sun bag», автоматизирующей учет продаж и закупок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743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200400"/>
            <a:ext cx="10972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Определить назначение ИС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Выделить основной процесс и внешние сущности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Выделить потоки данных для внешних сущностей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контекстную диаграмму уровня А-0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Составить матрицу событий и связи по потокам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Построить детализированную диаграмму А0 и декомпозицию процесса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Методы и средства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3233" y="229073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1833" y="24736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Методология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71833" y="311369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DFD — диаграммы потоков данных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92273" y="229073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20873" y="24736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CASE-средство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617720" y="311369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2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draw.io (diagrams.net</a:t>
            </a:r>
            <a:r>
              <a:rPr lang="ru-RU" sz="2000" dirty="0" smtClean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141313" y="2290730"/>
            <a:ext cx="34747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9050">
            <a:solidFill>
              <a:srgbClr val="E891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369913" y="24736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и связь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8369913" y="311369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 smtClean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</a:t>
            </a:r>
            <a:r>
              <a:rPr lang="en-US" sz="20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2000" dirty="0" smtClean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Контекстная диаграмма (А-0)</a:t>
            </a:r>
            <a:endParaRPr lang="en-US" sz="3000" dirty="0"/>
          </a:p>
        </p:txBody>
      </p:sp>
      <p:pic>
        <p:nvPicPr>
          <p:cNvPr id="5" name="Image 0" descr="pg-1.png"/>
          <p:cNvPicPr>
            <a:picLocks noChangeAspect="1"/>
          </p:cNvPicPr>
          <p:nvPr/>
        </p:nvPicPr>
        <p:blipFill rotWithShape="1">
          <a:blip r:embed="rId3"/>
          <a:srcRect l="10823" t="17483" r="13408" b="14458"/>
          <a:stretch/>
        </p:blipFill>
        <p:spPr>
          <a:xfrm>
            <a:off x="548640" y="1143000"/>
            <a:ext cx="7211647" cy="4858145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930056" y="1143000"/>
            <a:ext cx="4023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процесс А0: «Автоматизировать учет продаж и закупок»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 сущности: директор, закупщик, поставщик, продавец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ru-RU" sz="1900" dirty="0" smtClean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Потоки</a:t>
            </a:r>
            <a:r>
              <a:rPr lang="en-US" sz="1900" dirty="0" smtClean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рекомендации, заявка и заказ, договор, информация о продаже, отчеты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событий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6318283"/>
              </p:ext>
            </p:extLst>
          </p:nvPr>
        </p:nvGraphicFramePr>
        <p:xfrm>
          <a:off x="548640" y="1371600"/>
          <a:ext cx="11064240" cy="3968496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lang="ru-RU" dirty="0" smtClean="0"/>
                        <a:t>Процесс</a:t>
                      </a:r>
                      <a:endParaRPr dirty="0"/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Основной вход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Основной выход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Связанные участники / данные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A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A1 Управлять поставщиками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Данные о поставщиках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Информация и отчеты по поставщикам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Закупщик, директор, D1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A2 Управлять закупками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Рекомендации, заявка на заказ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Заказ, договор, данные согласованной закупки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Закупщик, поставщик, директор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A3 Поощрять продавцов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Список поощряемых продавцов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Поощрение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Директор, продавец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A4 Вести анализ работы продавцов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Данные о продажах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Отчет по продавцам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Директор, продавцы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A5 Управлять продажами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Информация о продаже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История продаж, отчеты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Продавец, D2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A6 Распределение товаров в магазине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Данные о новых товарах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t>Список товаров по магазину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00000"/>
                          </a:solidFill>
                          <a:latin typeface="Calibri"/>
                        </a:defRPr>
                      </a:pPr>
                      <a:r>
                        <a:rPr lang="ru-RU" dirty="0" smtClean="0"/>
                        <a:t>Директор, Продавцы</a:t>
                      </a:r>
                      <a:r>
                        <a:rPr dirty="0" smtClean="0"/>
                        <a:t>, </a:t>
                      </a:r>
                      <a:r>
                        <a:rPr dirty="0"/>
                        <a:t>D3</a:t>
                      </a:r>
                    </a:p>
                  </a:txBody>
                  <a:tcPr>
                    <a:lnL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Детализированная диаграмма А0</a:t>
            </a:r>
            <a:endParaRPr lang="en-US" sz="3000" dirty="0"/>
          </a:p>
        </p:txBody>
      </p:sp>
      <p:pic>
        <p:nvPicPr>
          <p:cNvPr id="5" name="Image 0" descr="pg-2.png"/>
          <p:cNvPicPr>
            <a:picLocks noChangeAspect="1"/>
          </p:cNvPicPr>
          <p:nvPr/>
        </p:nvPicPr>
        <p:blipFill rotWithShape="1">
          <a:blip r:embed="rId3"/>
          <a:srcRect l="7532" t="8561" r="7396" b="14156"/>
          <a:stretch/>
        </p:blipFill>
        <p:spPr>
          <a:xfrm>
            <a:off x="548639" y="1371600"/>
            <a:ext cx="7103739" cy="48400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772400" y="1371600"/>
            <a:ext cx="4023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процессов: поставщики, закупки, поощрение, анализ продавцов, продажи, распределение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хранилища: база поставщиков, продажи, товары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Внешние сущности: Е1–Е4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«от 2 до 6» соблюдено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Декомпозиция процесса А2</a:t>
            </a:r>
            <a:endParaRPr lang="en-US" sz="3000" dirty="0"/>
          </a:p>
        </p:txBody>
      </p:sp>
      <p:pic>
        <p:nvPicPr>
          <p:cNvPr id="5" name="Image 0" descr="pg-3.png"/>
          <p:cNvPicPr>
            <a:picLocks noChangeAspect="1"/>
          </p:cNvPicPr>
          <p:nvPr/>
        </p:nvPicPr>
        <p:blipFill rotWithShape="1">
          <a:blip r:embed="rId3"/>
          <a:srcRect l="20916" t="23533" r="21234" b="23381"/>
          <a:stretch/>
        </p:blipFill>
        <p:spPr>
          <a:xfrm>
            <a:off x="548639" y="1371600"/>
            <a:ext cx="7174521" cy="49377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851228" y="1371600"/>
            <a:ext cx="4023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A2.1 Формирование рекомендаций по закупкам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A2.2 Обработка заявок и заключение договоров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1900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A2.3 Оформление и контроль </a:t>
            </a:r>
            <a:r>
              <a:rPr lang="en-US" sz="1900" dirty="0" smtClean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заявок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Выводы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1097280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Построена функциональная модель АИС «Sun bag» по методологии DFD</a:t>
            </a:r>
            <a:endParaRPr lang="en-US" sz="2200" dirty="0">
              <a:solidFill>
                <a:schemeClr val="tx1">
                  <a:lumMod val="95000"/>
                  <a:lumOff val="5000"/>
                </a:schemeClr>
              </a:solidFill>
              <a:latin typeface="Golos Text"/>
            </a:endParaRPr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Выделены 4 внешние сущности, 6 процессов и 3 хранилища данных</a:t>
            </a:r>
            <a:endParaRPr lang="en-US" sz="2200" dirty="0">
              <a:solidFill>
                <a:schemeClr val="tx1">
                  <a:lumMod val="95000"/>
                  <a:lumOff val="5000"/>
                </a:schemeClr>
              </a:solidFill>
              <a:latin typeface="Golos Text"/>
            </a:endParaRPr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Составлена матрица событий, процесс «Управлять закупками» </a:t>
            </a:r>
            <a:r>
              <a:rPr lang="ru-RU" sz="2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детализирован</a:t>
            </a:r>
            <a:endParaRPr lang="en-US" sz="2200" dirty="0" smtClean="0">
              <a:solidFill>
                <a:schemeClr val="tx1">
                  <a:lumMod val="95000"/>
                  <a:lumOff val="5000"/>
                </a:schemeClr>
              </a:solidFill>
              <a:latin typeface="Golos Text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FontTx/>
              <a:buChar char="•"/>
            </a:pPr>
            <a:r>
              <a:rPr lang="ru-RU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</a:rPr>
              <a:t>Модель показывает, какие данные поступают в систему, где они обрабатываются и какие отчеты формируются</a:t>
            </a:r>
            <a:r>
              <a:rPr lang="ru-RU" sz="2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</a:rPr>
              <a:t>.</a:t>
            </a:r>
            <a:endParaRPr lang="en-US" sz="2200" dirty="0">
              <a:solidFill>
                <a:schemeClr val="tx1">
                  <a:lumMod val="95000"/>
                  <a:lumOff val="5000"/>
                </a:schemeClr>
              </a:solidFill>
              <a:latin typeface="Golos Text"/>
            </a:endParaRPr>
          </a:p>
          <a:p>
            <a:pPr marL="342900" indent="-342900">
              <a:spcAft>
                <a:spcPts val="1000"/>
              </a:spcAft>
              <a:buClr>
                <a:srgbClr val="E8913A"/>
              </a:buClr>
              <a:buSzPct val="100000"/>
              <a:buChar char="•"/>
            </a:pPr>
            <a:r>
              <a:rPr lang="ru-RU" sz="2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Следующий</a:t>
            </a:r>
            <a:r>
              <a:rPr lang="en-US" sz="2200" dirty="0" smtClean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dirty="0">
                <a:solidFill>
                  <a:schemeClr val="tx1">
                    <a:lumMod val="95000"/>
                    <a:lumOff val="5000"/>
                  </a:schemeClr>
                </a:solidFill>
                <a:latin typeface="Golos Text"/>
                <a:ea typeface="Calibri" pitchFamily="34" charset="-122"/>
                <a:cs typeface="Calibri" pitchFamily="34" charset="-120"/>
              </a:rPr>
              <a:t>этап — проектирование структуры базы данных</a:t>
            </a:r>
            <a:endParaRPr lang="en-US" sz="2200" dirty="0">
              <a:solidFill>
                <a:schemeClr val="tx1">
                  <a:lumMod val="95000"/>
                  <a:lumOff val="5000"/>
                </a:schemeClr>
              </a:solidFill>
              <a:latin typeface="Golos Tex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3774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внимание!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566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 ответить на ваши вопросы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Другая 1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EC0B43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Тема1" id="{4DAE9245-FD5C-48A3-9F61-0C8FFBFAE07A}" vid="{20E0B42B-372D-46F0-B56F-89DFAD950D3B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</TotalTime>
  <Words>1235</Words>
  <Application>Microsoft Office PowerPoint</Application>
  <PresentationFormat>Широкоэкранный</PresentationFormat>
  <Paragraphs>100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ALS Gorizont Bold Expanded</vt:lpstr>
      <vt:lpstr>Arial</vt:lpstr>
      <vt:lpstr>Calibri</vt:lpstr>
      <vt:lpstr>Golos Text</vt:lpstr>
      <vt:lpstr>Golos Text DemiBold</vt:lpstr>
      <vt:lpstr>Тема1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 bag — функциональная модель АИС</dc:title>
  <dc:subject>PptxGenJS Presentation</dc:subject>
  <dc:creator>PptxGenJS</dc:creator>
  <cp:lastModifiedBy>Кира Вараксина</cp:lastModifiedBy>
  <cp:revision>11</cp:revision>
  <dcterms:created xsi:type="dcterms:W3CDTF">2026-10-08T10:47:41Z</dcterms:created>
  <dcterms:modified xsi:type="dcterms:W3CDTF">2026-10-08T17:54:16Z</dcterms:modified>
</cp:coreProperties>
</file>