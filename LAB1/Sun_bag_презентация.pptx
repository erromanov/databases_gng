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A44"/>
    <a:srgbClr val="E891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7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837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Мы представляем проект по дисциплине «Проектирование и реализация баз данных». Тема нашей работы — автоматизация учета продаж и закупок в компании «Sun bag», которая торгует сумками. Мы выполнили первый этап проектирования информационной системы — анализ функционального поведения системы с помощью DFD-диаграмм. [Представьтесь: ФИО каждого участника и роль в команде.]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«Sun bag» продает сумки через несколько магазинов. В компании работают директор, закупщик и продавцы; сумки закупаются у разных поставщиков. Директор анализирует модные тенденции и продажи, определяет ассортимент и дает рекомендации закупщику. Закупщик выбирает наиболее выгодного поставщика, оформляет заказ и следит за его исполнением. После поставки директор распределяет сумки по магазинам. Продавцы ежедневно отчитываются о продажах и делятся наблюдениями о спросе. Раз в неделю директор корректирует цены, раз в месяц поощряются лучшие продавцы. Сейчас эти процессы требуют автоматизации: нужно считать рейтинг поставщиков, находить самые продаваемые модели, распределять товар и выявлять самых старательных продавцов.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спроектировать функциональную модель АИС «Sun bag» и показать, как система ведет себя: какие процессы в ней есть, с кем она обменивается информацией и какие данные хранит. Для этого мы решили шесть задач: определили назначение системы, выделили основной процесс и внешние сущности, описали потоки данных, построили контекстную диаграмму уровня А-0, составили матрицу событий и построили детализированную диаграмму А0 с декомпозицией процессов.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моделирования мы использовали методологию потоков данных DFD. Она показывает процессы обработки информации, внешние сущности, хранилища и потоки между ними, поэтому удобна для общения с заказчиком и уточнения требований. Диаграммы построены в CASE-средстве [укажите: CA ERwin Process Modeler или аналог], презентация подготовлена в PowerPoint, командную работу мы вели в Zoom. При построении мы придерживались правил: от 2 до 6 процессов на диаграмме, процессы называются глаголами, у каждого хранилища есть вход и выход, внешние сущности не связаны между собой.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контекстная диаграмма уровня А-0. Вся система представлена одним процессом «Автоматизировать учет продаж и закупок». Вокруг него четыре внешние сущности. Директор получает от системы четыре отчета — по продажам, поставщикам, продавцам и распределению товара — а также список рекомендуемых поставщиков, и передает рекомендации по закупкам и информацию о поощрении. Закупщик отправляет заявку на заказ, получает отчет по поставщикам и общий список товаров. Поставщик получает заказ на поставку и договор о закупке, а подтверждает заказ. Продавец вносит информацию о продаже и получает список товаров по магазину и сумму своих продаж на текущую дату.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событий связывает каждое событие с источником, реакцией системы и потоками данных. Например, когда директор формирует рекомендации по закупкам, запускается процесс «Управлять закупками». Когда продавец продает сумку и вносит данные, процесс «Управлять продажами» записывает продажу в хранилище и возвращает продавцу сумму его продаж. Раз в месяц по итогам продаж запускается процесс поощрения лучших продавцов. Так мы определили все связи между сущностями, процессами и накопителями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диаграмме А0 система разбита на шесть процессов: А1 «Управлять поставщиками» с рейтингом, А2 «Управлять закупками», А3 «Поощрять продавцов», А4 «Вести анализ работы продавцов», А5 «Управлять продажами» и А6 «Распределение товаров в магазине». Данные хранятся в трех накопителях: D1 — база данных поставщиков, D2 — продажи с историей чеков, D3 — товары. Каждое хранилище имеет и вход, и выход: например, продажи записываются процессом А5 и используются в А4 для отчетов по продажам и продавцам. Информацию о поставщиках вносит закупщик, а отчет по ним получает директор.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Наиболее сложный процесс — «Управлять закупками» — мы детализировали на три элементарных процесса. В А2.1 директор формирует рекомендации по закупкам, на их основе закупщик оформляет заявку. В А2.2 заявки обрабатываются и заключается договор о закупке с поставщиком. В А2.3 оформляется и контролируется заказ, поставщик возвращает квитанцию об оплате, а данные согласованной закупки попадают обратно в систему. Элементарные процессы дальше не детализируются.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Подведем итоги. Цель достигнута: мы построили функциональную модель АИС «Sun bag». Мы определили назначение системы, выделили четыре внешние сущности, описали потоки данных, построили контекстную диаграмму А-0, составили матрицу событий и детализировали систему до шести процессов уровня А0 с декомпозицией закупок. Модель охватывает четыре ключевые задачи заказчика: рейтинг поставщиков, самые продаваемые модели, распределение товара по магазинам и оценку продавцов. Дальше на ее основе можно проектировать структуру базы данных. 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797889" y="6537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7881069" y="56965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/>
        </p:nvSpPr>
        <p:spPr>
          <a:xfrm>
            <a:off x="6797889" y="6537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/>
        </p:nvSpPr>
        <p:spPr>
          <a:xfrm>
            <a:off x="7881069" y="56965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667" baseline="0"/>
            </a:lvl1pPr>
            <a:lvl2pPr marL="609585" indent="0">
              <a:buFont typeface="Arial" panose="020B0604020202020204" pitchFamily="34" charset="0"/>
              <a:buNone/>
              <a:defRPr sz="3200"/>
            </a:lvl2pPr>
            <a:lvl3pPr marL="1219170" indent="0">
              <a:buFont typeface="Arial" panose="020B0604020202020204" pitchFamily="34" charset="0"/>
              <a:buNone/>
              <a:defRPr sz="2667"/>
            </a:lvl3pPr>
            <a:lvl4pPr marL="1828754" indent="0">
              <a:buFont typeface="Arial" panose="020B0604020202020204" pitchFamily="34" charset="0"/>
              <a:buNone/>
              <a:defRPr sz="2400"/>
            </a:lvl4pPr>
            <a:lvl5pPr marL="2438339" indent="0">
              <a:buFont typeface="Arial" panose="020B0604020202020204" pitchFamily="34" charset="0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r>
              <a:rPr lang="ru-RU" sz="2667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667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7112920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15925"/>
            <a:ext cx="9956800" cy="4596191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867" baseline="0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r>
              <a:rPr lang="ru-RU" sz="3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32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6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6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494088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2133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867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0221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249137"/>
            <a:ext cx="6144684" cy="5122873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44229" y="1538516"/>
            <a:ext cx="3376991" cy="4567161"/>
          </a:xfr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1631132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</a:defRPr>
            </a:lvl1pPr>
            <a:lvl2pPr marL="609585" indent="0">
              <a:buFont typeface="Arial" panose="020B0604020202020204" pitchFamily="34" charset="0"/>
              <a:buNone/>
              <a:defRPr sz="3200"/>
            </a:lvl2pPr>
            <a:lvl3pPr marL="1219170" indent="0">
              <a:buFont typeface="Arial" panose="020B0604020202020204" pitchFamily="34" charset="0"/>
              <a:buNone/>
              <a:defRPr sz="2667"/>
            </a:lvl3pPr>
            <a:lvl4pPr marL="1828754" indent="0">
              <a:buFont typeface="Arial" panose="020B0604020202020204" pitchFamily="34" charset="0"/>
              <a:buNone/>
              <a:defRPr sz="2400"/>
            </a:lvl4pPr>
            <a:lvl5pPr marL="2438339" indent="0">
              <a:buFont typeface="Arial" panose="020B0604020202020204" pitchFamily="34" charset="0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667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3016279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2151" y="1644953"/>
            <a:ext cx="9560076" cy="454780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133" baseline="0"/>
            </a:lvl1pPr>
            <a:lvl2pPr marL="609585" indent="0">
              <a:buFontTx/>
              <a:buNone/>
              <a:defRPr sz="2133" baseline="0"/>
            </a:lvl2pPr>
            <a:lvl3pPr marL="1219170" indent="0">
              <a:buFontTx/>
              <a:buNone/>
              <a:defRPr sz="2133" baseline="0"/>
            </a:lvl3pPr>
            <a:lvl4pPr marL="1828754" indent="0">
              <a:buFontTx/>
              <a:buNone/>
              <a:defRPr sz="2133" baseline="0"/>
            </a:lvl4pPr>
            <a:lvl5pPr>
              <a:buFontTx/>
              <a:buNone/>
              <a:defRPr sz="2133" baseline="0"/>
            </a:lvl5pPr>
          </a:lstStyle>
          <a:p>
            <a:r>
              <a:rPr lang="ru-RU" sz="2133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133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115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1019315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249137"/>
            <a:ext cx="6144684" cy="5122873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44229" y="1538516"/>
            <a:ext cx="3376991" cy="4567161"/>
          </a:xfrm>
        </p:spPr>
        <p:txBody>
          <a:bodyPr>
            <a:normAutofit/>
          </a:bodyPr>
          <a:lstStyle>
            <a:lvl1pPr marL="0" indent="0" algn="l">
              <a:buNone/>
              <a:defRPr sz="1867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867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8050291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</a:defRPr>
            </a:lvl1pPr>
            <a:lvl2pPr marL="609585" indent="0">
              <a:buFont typeface="Arial" panose="020B0604020202020204" pitchFamily="34" charset="0"/>
              <a:buNone/>
              <a:defRPr sz="3200"/>
            </a:lvl2pPr>
            <a:lvl3pPr marL="1219170" indent="0">
              <a:buFont typeface="Arial" panose="020B0604020202020204" pitchFamily="34" charset="0"/>
              <a:buNone/>
              <a:defRPr sz="2667"/>
            </a:lvl3pPr>
            <a:lvl4pPr marL="1828754" indent="0">
              <a:buFont typeface="Arial" panose="020B0604020202020204" pitchFamily="34" charset="0"/>
              <a:buNone/>
              <a:defRPr sz="2400"/>
            </a:lvl4pPr>
            <a:lvl5pPr marL="2438339" indent="0">
              <a:buFont typeface="Arial" panose="020B0604020202020204" pitchFamily="34" charset="0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667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9822756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2151" y="1644953"/>
            <a:ext cx="9560076" cy="454780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133" baseline="0"/>
            </a:lvl1pPr>
            <a:lvl2pPr marL="609585" indent="0">
              <a:buFontTx/>
              <a:buNone/>
              <a:defRPr sz="2133" baseline="0"/>
            </a:lvl2pPr>
            <a:lvl3pPr marL="1219170" indent="0">
              <a:buFontTx/>
              <a:buNone/>
              <a:defRPr sz="2133" baseline="0"/>
            </a:lvl3pPr>
            <a:lvl4pPr marL="1828754" indent="0">
              <a:buFontTx/>
              <a:buNone/>
              <a:defRPr sz="2133" baseline="0"/>
            </a:lvl4pPr>
            <a:lvl5pPr>
              <a:buFontTx/>
              <a:buNone/>
              <a:defRPr sz="2133" baseline="0"/>
            </a:lvl5pPr>
          </a:lstStyle>
          <a:p>
            <a:r>
              <a:rPr lang="ru-RU" sz="2133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133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526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395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249137"/>
            <a:ext cx="6144684" cy="5122873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44229" y="1538516"/>
            <a:ext cx="3376991" cy="4567161"/>
          </a:xfrm>
        </p:spPr>
        <p:txBody>
          <a:bodyPr>
            <a:normAutofit/>
          </a:bodyPr>
          <a:lstStyle>
            <a:lvl1pPr marL="0" indent="0" algn="l">
              <a:buNone/>
              <a:defRPr sz="1867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867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8997302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</a:defRPr>
            </a:lvl1pPr>
            <a:lvl2pPr marL="609585" indent="0">
              <a:buFont typeface="Arial" panose="020B0604020202020204" pitchFamily="34" charset="0"/>
              <a:buNone/>
              <a:defRPr sz="3200"/>
            </a:lvl2pPr>
            <a:lvl3pPr marL="1219170" indent="0">
              <a:buFont typeface="Arial" panose="020B0604020202020204" pitchFamily="34" charset="0"/>
              <a:buNone/>
              <a:defRPr sz="2667"/>
            </a:lvl3pPr>
            <a:lvl4pPr marL="1828754" indent="0">
              <a:buFont typeface="Arial" panose="020B0604020202020204" pitchFamily="34" charset="0"/>
              <a:buNone/>
              <a:defRPr sz="2400"/>
            </a:lvl4pPr>
            <a:lvl5pPr marL="2438339" indent="0">
              <a:buFont typeface="Arial" panose="020B0604020202020204" pitchFamily="34" charset="0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667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1092741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2151" y="1644953"/>
            <a:ext cx="9560076" cy="4547808"/>
          </a:xfrm>
        </p:spPr>
        <p:txBody>
          <a:bodyPr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133" baseline="0"/>
            </a:lvl1pPr>
            <a:lvl2pPr marL="609585" indent="0">
              <a:buFontTx/>
              <a:buNone/>
              <a:defRPr sz="2133" baseline="0"/>
            </a:lvl2pPr>
            <a:lvl3pPr marL="1219170" indent="0">
              <a:buFontTx/>
              <a:buNone/>
              <a:defRPr sz="2133" baseline="0"/>
            </a:lvl3pPr>
            <a:lvl4pPr marL="1828754" indent="0">
              <a:buFontTx/>
              <a:buNone/>
              <a:defRPr sz="2133" baseline="0"/>
            </a:lvl4pPr>
            <a:lvl5pPr>
              <a:buFontTx/>
              <a:buNone/>
              <a:defRPr sz="2133" baseline="0"/>
            </a:lvl5pPr>
          </a:lstStyle>
          <a:p>
            <a:r>
              <a:rPr lang="ru-RU" sz="2133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2133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133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133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133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133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205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332" y="2389715"/>
            <a:ext cx="4847773" cy="209822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333" y="15766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6895" y="4015315"/>
            <a:ext cx="4847773" cy="209822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6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6895" y="3202213"/>
            <a:ext cx="3947884" cy="793447"/>
          </a:xfrm>
        </p:spPr>
        <p:txBody>
          <a:bodyPr>
            <a:normAutofit/>
          </a:bodyPr>
          <a:lstStyle>
            <a:lvl1pPr marL="0" indent="0">
              <a:buNone/>
              <a:defRPr sz="2133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455527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1249137"/>
            <a:ext cx="6144684" cy="5122873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44229" y="1538516"/>
            <a:ext cx="3376991" cy="4567161"/>
          </a:xfrm>
        </p:spPr>
        <p:txBody>
          <a:bodyPr>
            <a:normAutofit/>
          </a:bodyPr>
          <a:lstStyle>
            <a:lvl1pPr marL="0" indent="0" algn="l">
              <a:buNone/>
              <a:defRPr sz="1867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867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67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67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54187302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36571" y="1257611"/>
            <a:ext cx="7368420" cy="5167381"/>
          </a:xfrm>
        </p:spPr>
        <p:txBody>
          <a:bodyPr>
            <a:normAutofit/>
          </a:bodyPr>
          <a:lstStyle>
            <a:lvl1pPr marL="0" indent="0">
              <a:buNone/>
              <a:defRPr sz="1867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1257612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" y="3914294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624287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412429"/>
            <a:ext cx="5196115" cy="2312904"/>
          </a:xfrm>
        </p:spPr>
        <p:txBody>
          <a:bodyPr>
            <a:normAutofit/>
          </a:bodyPr>
          <a:lstStyle>
            <a:lvl1pPr marL="0" indent="0"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3" y="4141116"/>
            <a:ext cx="5196112" cy="2187113"/>
          </a:xfrm>
        </p:spPr>
        <p:txBody>
          <a:bodyPr>
            <a:normAutofit/>
          </a:bodyPr>
          <a:lstStyle>
            <a:lvl1pPr marL="0" indent="0"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6286" y="1412430"/>
            <a:ext cx="4842935" cy="4915799"/>
          </a:xfrm>
        </p:spPr>
        <p:txBody>
          <a:bodyPr>
            <a:normAutofit/>
          </a:bodyPr>
          <a:lstStyle>
            <a:lvl1pPr marL="0" indent="0">
              <a:buNone/>
              <a:defRPr sz="1867" baseline="0">
                <a:solidFill>
                  <a:schemeClr val="bg1"/>
                </a:solidFill>
              </a:defRPr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r>
              <a:rPr lang="ru-RU" sz="1867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97931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2" y="3911870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4279273" y="3911870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7959739" y="3911870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1" y="4383771"/>
            <a:ext cx="3451844" cy="1860731"/>
          </a:xfrm>
        </p:spPr>
        <p:txBody>
          <a:bodyPr>
            <a:normAutofit/>
          </a:bodyPr>
          <a:lstStyle>
            <a:lvl1pPr marL="0" indent="0">
              <a:buNone/>
              <a:defRPr sz="1600" baseline="0"/>
            </a:lvl1pPr>
            <a:lvl2pPr>
              <a:defRPr sz="2133"/>
            </a:lvl2pPr>
            <a:lvl3pPr>
              <a:defRPr sz="2133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76335" y="4399437"/>
            <a:ext cx="3455221" cy="1860731"/>
          </a:xfrm>
        </p:spPr>
        <p:txBody>
          <a:bodyPr>
            <a:noAutofit/>
          </a:bodyPr>
          <a:lstStyle>
            <a:lvl1pPr marL="0" indent="0">
              <a:buNone/>
              <a:defRPr sz="1600" baseline="0"/>
            </a:lvl1pPr>
            <a:lvl2pPr>
              <a:defRPr sz="1600" baseline="0"/>
            </a:lvl2pPr>
            <a:lvl3pPr>
              <a:defRPr sz="16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7956800" y="4399437"/>
            <a:ext cx="3455221" cy="1860731"/>
          </a:xfrm>
        </p:spPr>
        <p:txBody>
          <a:bodyPr>
            <a:noAutofit/>
          </a:bodyPr>
          <a:lstStyle>
            <a:lvl1pPr marL="0" indent="0">
              <a:buNone/>
              <a:defRPr sz="1600" baseline="0"/>
            </a:lvl1pPr>
            <a:lvl2pPr>
              <a:defRPr sz="1600" baseline="0"/>
            </a:lvl2pPr>
            <a:lvl3pPr>
              <a:defRPr sz="16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442" y="1259285"/>
            <a:ext cx="3436001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95556" y="1259284"/>
            <a:ext cx="3436001" cy="2510697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74254" y="1259285"/>
            <a:ext cx="3436001" cy="2510697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617301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44191" y="1265773"/>
            <a:ext cx="3860800" cy="5194299"/>
          </a:xfrm>
        </p:spPr>
        <p:txBody>
          <a:bodyPr>
            <a:normAutofit/>
          </a:bodyPr>
          <a:lstStyle>
            <a:lvl1pPr marL="0" indent="0">
              <a:buNone/>
              <a:defRPr sz="1867" b="0" i="0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1265773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6895" y="1265772"/>
            <a:ext cx="3376992" cy="2510697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26895" y="3949376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99" y="3949376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923133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284530"/>
            <a:ext cx="3376992" cy="2510697"/>
          </a:xfrm>
        </p:spPr>
        <p:txBody>
          <a:bodyPr>
            <a:normAutofit/>
          </a:bodyPr>
          <a:lstStyle>
            <a:lvl1pPr marL="0" indent="0">
              <a:buNone/>
              <a:defRPr sz="2400" b="1" i="0" baseline="0"/>
            </a:lvl1pPr>
            <a:lvl2pPr marL="609585" indent="0">
              <a:buNone/>
              <a:defRPr sz="1867" baseline="0"/>
            </a:lvl2pPr>
            <a:lvl3pPr marL="1219170" indent="0">
              <a:buNone/>
              <a:defRPr sz="1867" baseline="0"/>
            </a:lvl3pPr>
            <a:lvl4pPr marL="1828754" indent="0">
              <a:buNone/>
              <a:defRPr sz="1867" baseline="0"/>
            </a:lvl4pPr>
            <a:lvl5pPr marL="2438339" indent="0">
              <a:buFont typeface="Arial" panose="020B0604020202020204" pitchFamily="34" charset="0"/>
              <a:buNone/>
              <a:defRPr sz="1867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26895" y="1284530"/>
            <a:ext cx="3376992" cy="2510697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44188" y="1289238"/>
            <a:ext cx="3376992" cy="2510697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44188" y="3938724"/>
            <a:ext cx="3376992" cy="2510697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26895" y="3947086"/>
            <a:ext cx="3376992" cy="2510697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" y="3947086"/>
            <a:ext cx="3376992" cy="2510697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r>
              <a:rPr lang="ru-RU" smtClean="0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920921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2" y="3156861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4367759" y="3156861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8114275" y="3156861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1" y="408580"/>
            <a:ext cx="8389257" cy="703045"/>
          </a:xfrm>
        </p:spPr>
        <p:txBody>
          <a:bodyPr>
            <a:normAutofit/>
          </a:bodyPr>
          <a:lstStyle>
            <a:lvl1pPr>
              <a:defRPr sz="4267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5401" y="1270143"/>
            <a:ext cx="3452284" cy="1739059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67758" y="1270143"/>
            <a:ext cx="3452284" cy="1739059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119719" y="1270143"/>
            <a:ext cx="3452284" cy="1739059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3803" y="5708529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71961" y="5708529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8477" y="5708529"/>
            <a:ext cx="3452284" cy="358775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09602" y="3821811"/>
            <a:ext cx="3452284" cy="1739059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4371959" y="3821811"/>
            <a:ext cx="3452284" cy="1739059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123921" y="3821811"/>
            <a:ext cx="3452284" cy="1739059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10806893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6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08579"/>
            <a:ext cx="10972800" cy="827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95884"/>
            <a:ext cx="10972800" cy="386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153401" y="55121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/>
        </p:nvSpPr>
        <p:spPr>
          <a:xfrm>
            <a:off x="-1153401" y="55121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2275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</p:sldLayoutIdLst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48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667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990575" indent="-380990" algn="l" defTabSz="6095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523962" indent="-304792" algn="l" defTabSz="6095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2133547" indent="-304792" algn="l" defTabSz="6095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2438339" indent="0" algn="l" defTabSz="609585" rtl="0" eaLnBrk="1" latinLnBrk="0" hangingPunct="1">
        <a:spcBef>
          <a:spcPct val="20000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учета продаж и закупок сумок в компании «Sun bag»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Функциональная модель АИС на основе DFD-диаграмм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463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Выполнили: </a:t>
            </a:r>
            <a:r>
              <a:rPr lang="ru-RU" sz="1800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Вараксина Кира</a:t>
            </a:r>
            <a:r>
              <a:rPr lang="en-US" sz="1800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K3241</a:t>
            </a:r>
            <a:r>
              <a:rPr lang="ru-RU" sz="1800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Романов Егор К3240, </a:t>
            </a:r>
            <a:r>
              <a:rPr lang="ru-RU" sz="1800" dirty="0" err="1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Газизова</a:t>
            </a:r>
            <a:r>
              <a:rPr lang="ru-RU" sz="1800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Карина К3240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ru-RU" sz="1800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Преподаватели</a:t>
            </a:r>
            <a:r>
              <a:rPr lang="en-US" sz="1800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800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Говорова Марина </a:t>
            </a:r>
            <a:r>
              <a:rPr lang="ru-RU" sz="1800" dirty="0" smtClean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Михайловна, Белов Александр Олегович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rgbClr val="E3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Проектирование и реализация баз данных</a:t>
            </a:r>
            <a:endParaRPr lang="en-US" sz="18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clrChange>
              <a:clrFrom>
                <a:srgbClr val="18273E"/>
              </a:clrFrom>
              <a:clrTo>
                <a:srgbClr val="18273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38076"/>
            <a:ext cx="1682181" cy="1275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0179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Предметная область</a:t>
            </a:r>
            <a:endParaRPr lang="en-US" sz="3000" dirty="0"/>
          </a:p>
        </p:txBody>
      </p:sp>
      <p:sp>
        <p:nvSpPr>
          <p:cNvPr id="6" name="Rounded Rectangle 3"/>
          <p:cNvSpPr/>
          <p:nvPr/>
        </p:nvSpPr>
        <p:spPr>
          <a:xfrm>
            <a:off x="340403" y="2766848"/>
            <a:ext cx="3870960" cy="2330144"/>
          </a:xfrm>
          <a:prstGeom prst="roundRect">
            <a:avLst/>
          </a:prstGeom>
          <a:solidFill>
            <a:srgbClr val="F8F8F8"/>
          </a:solidFill>
          <a:ln>
            <a:solidFill>
              <a:srgbClr val="B2B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EC0B43"/>
                </a:solidFill>
                <a:latin typeface="Calibri"/>
              </a:defRPr>
            </a:pPr>
            <a:r>
              <a:rPr lang="ru-RU" dirty="0" smtClean="0">
                <a:solidFill>
                  <a:srgbClr val="E8913A"/>
                </a:solidFill>
              </a:rPr>
              <a:t>Компания</a:t>
            </a:r>
            <a:r>
              <a:rPr dirty="0" smtClean="0">
                <a:solidFill>
                  <a:srgbClr val="E8913A"/>
                </a:solidFill>
              </a:rPr>
              <a:t> </a:t>
            </a:r>
            <a:r>
              <a:rPr dirty="0">
                <a:solidFill>
                  <a:srgbClr val="E8913A"/>
                </a:solidFill>
              </a:rPr>
              <a:t>«Sun Bag»</a:t>
            </a:r>
          </a:p>
          <a:p>
            <a:pPr algn="ctr">
              <a:spcBef>
                <a:spcPts val="7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rPr lang="ru-RU" sz="1400" dirty="0" smtClean="0">
                <a:latin typeface="Golos Text"/>
              </a:rPr>
              <a:t>Компания занимается продажей сумок</a:t>
            </a:r>
            <a:r>
              <a:rPr sz="1400" dirty="0" smtClean="0">
                <a:latin typeface="Golos Text"/>
              </a:rPr>
              <a:t>. </a:t>
            </a:r>
            <a:endParaRPr lang="ru-RU" sz="1400" dirty="0" smtClean="0">
              <a:latin typeface="Golos Text"/>
            </a:endParaRPr>
          </a:p>
          <a:p>
            <a:pPr algn="ctr">
              <a:spcBef>
                <a:spcPts val="7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rPr lang="ru-RU" sz="1400" dirty="0">
                <a:latin typeface="Golos Text"/>
              </a:rPr>
              <a:t>В системе учитываются </a:t>
            </a:r>
            <a:r>
              <a:rPr lang="ru-RU" sz="1400" dirty="0" smtClean="0">
                <a:latin typeface="Golos Text"/>
              </a:rPr>
              <a:t>закупки, товары, продажи и работу продавцов</a:t>
            </a:r>
            <a:r>
              <a:rPr sz="1400" dirty="0" smtClean="0"/>
              <a:t>.</a:t>
            </a:r>
            <a:endParaRPr sz="1400" dirty="0"/>
          </a:p>
        </p:txBody>
      </p:sp>
      <p:sp>
        <p:nvSpPr>
          <p:cNvPr id="7" name="Rounded Rectangle 4"/>
          <p:cNvSpPr/>
          <p:nvPr/>
        </p:nvSpPr>
        <p:spPr>
          <a:xfrm>
            <a:off x="4267987" y="1686910"/>
            <a:ext cx="3870960" cy="2330144"/>
          </a:xfrm>
          <a:prstGeom prst="roundRect">
            <a:avLst/>
          </a:prstGeom>
          <a:solidFill>
            <a:srgbClr val="F8F8F8"/>
          </a:solidFill>
          <a:ln>
            <a:solidFill>
              <a:srgbClr val="B2B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EC0B43"/>
                </a:solidFill>
                <a:latin typeface="Calibri"/>
              </a:defRPr>
            </a:pPr>
            <a:r>
              <a:rPr lang="ru-RU" dirty="0" smtClean="0">
                <a:solidFill>
                  <a:srgbClr val="E8913A"/>
                </a:solidFill>
              </a:rPr>
              <a:t>Участники</a:t>
            </a:r>
            <a:endParaRPr dirty="0">
              <a:solidFill>
                <a:srgbClr val="E8913A"/>
              </a:solidFill>
            </a:endParaRPr>
          </a:p>
          <a:p>
            <a:pPr algn="ctr">
              <a:spcBef>
                <a:spcPts val="7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rPr lang="ru-RU" sz="1400" dirty="0" smtClean="0"/>
              <a:t>Директор, закупщик, продавцы, поставщики</a:t>
            </a:r>
            <a:endParaRPr sz="1400" dirty="0"/>
          </a:p>
        </p:txBody>
      </p:sp>
      <p:sp>
        <p:nvSpPr>
          <p:cNvPr id="8" name="Rounded Rectangle 5"/>
          <p:cNvSpPr/>
          <p:nvPr/>
        </p:nvSpPr>
        <p:spPr>
          <a:xfrm>
            <a:off x="8195571" y="2766848"/>
            <a:ext cx="3870960" cy="2330144"/>
          </a:xfrm>
          <a:prstGeom prst="roundRect">
            <a:avLst/>
          </a:prstGeom>
          <a:solidFill>
            <a:srgbClr val="F8F8F8"/>
          </a:solidFill>
          <a:ln>
            <a:solidFill>
              <a:srgbClr val="B2B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EC0B43"/>
                </a:solidFill>
                <a:latin typeface="Calibri"/>
              </a:defRPr>
            </a:pPr>
            <a:r>
              <a:rPr lang="ru-RU" dirty="0" smtClean="0">
                <a:solidFill>
                  <a:srgbClr val="E8913A"/>
                </a:solidFill>
              </a:rPr>
              <a:t>Ключевые процессы</a:t>
            </a:r>
            <a:endParaRPr dirty="0">
              <a:solidFill>
                <a:srgbClr val="E8913A"/>
              </a:solidFill>
            </a:endParaRPr>
          </a:p>
          <a:p>
            <a:pPr algn="ctr">
              <a:spcBef>
                <a:spcPts val="7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rPr lang="ru-RU" dirty="0" smtClean="0"/>
              <a:t>Закупка и поставка товаров, распределение по магазинам, продажи, анализ и поощрение продавцов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функциональную модель АИС «Sun bag», автоматизирующей учет продаж и закупок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10972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Определить назначение ИС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Выделить основной процесс и внешние сущности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Выделить потоки данных для внешних сущностей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контекстную диаграмму уровня А-0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Составить матрицу событий и связи по потокам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детализированную диаграмму А0 и декомпозицию процесса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и средства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3233" y="229073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1833" y="247361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71833" y="311369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— диаграммы потоков данных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92273" y="229073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20873" y="247361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CASE-средство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311369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(diagrams.net</a:t>
            </a:r>
            <a:r>
              <a:rPr lang="ru-RU" sz="2000" dirty="0" smtClean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141313" y="229073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9913" y="247361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и связь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69913" y="311369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smtClean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261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Контекстная диаграмма (А-0)</a:t>
            </a:r>
            <a:endParaRPr lang="en-US" sz="3000" dirty="0"/>
          </a:p>
        </p:txBody>
      </p:sp>
      <p:pic>
        <p:nvPicPr>
          <p:cNvPr id="5" name="Image 0" descr="pg-1.png"/>
          <p:cNvPicPr>
            <a:picLocks noChangeAspect="1"/>
          </p:cNvPicPr>
          <p:nvPr/>
        </p:nvPicPr>
        <p:blipFill rotWithShape="1">
          <a:blip r:embed="rId3"/>
          <a:srcRect l="10823" t="17483" r="13408" b="14458"/>
          <a:stretch/>
        </p:blipFill>
        <p:spPr>
          <a:xfrm>
            <a:off x="1844566" y="835571"/>
            <a:ext cx="8812924" cy="5936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событий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644482"/>
              </p:ext>
            </p:extLst>
          </p:nvPr>
        </p:nvGraphicFramePr>
        <p:xfrm>
          <a:off x="548640" y="1371600"/>
          <a:ext cx="11155679" cy="3996559"/>
        </p:xfrm>
        <a:graphic>
          <a:graphicData uri="http://schemas.openxmlformats.org/drawingml/2006/table">
            <a:tbl>
              <a:tblPr/>
              <a:tblGrid>
                <a:gridCol w="3042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2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ru-RU" dirty="0" smtClean="0"/>
                        <a:t>Процесс</a:t>
                      </a:r>
                      <a:endParaRPr dirty="0"/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Основной вход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Основной выход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Связанные участники / данные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A1 Управлять поставщиками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Данные о поставщиках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Информация и отчеты по поставщикам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Закупщик, директор, D1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A2 Управлять закупками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Рекомендации, заявка на заказ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Заказ, договор, данные согласованной закупки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Закупщик, поставщик, директор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A3 Поощрять продавцов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Список поощряемых продавцов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Поощрение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Директор, продавец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A4 Вести анализ работы продавцов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Данные о продажах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Отчет по продавцам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Директор, продавцы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A5 Управлять продажами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Информация о продаже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История продаж, отчеты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Продавец, D2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99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A6 </a:t>
                      </a:r>
                      <a:r>
                        <a:rPr dirty="0" err="1"/>
                        <a:t>Распределение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товаров</a:t>
                      </a:r>
                      <a:r>
                        <a:rPr dirty="0"/>
                        <a:t> в </a:t>
                      </a:r>
                      <a:r>
                        <a:rPr dirty="0" err="1"/>
                        <a:t>магазине</a:t>
                      </a:r>
                      <a:endParaRPr dirty="0"/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Данные о новых товарах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Список товаров по магазину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ru-RU" dirty="0" smtClean="0"/>
                        <a:t>Директор, Продавцы</a:t>
                      </a:r>
                      <a:r>
                        <a:rPr dirty="0" smtClean="0"/>
                        <a:t>, </a:t>
                      </a:r>
                      <a:r>
                        <a:rPr dirty="0"/>
                        <a:t>D3</a:t>
                      </a:r>
                    </a:p>
                  </a:txBody>
                  <a:tcPr>
                    <a:lnL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Детализированная диаграмма А0</a:t>
            </a:r>
            <a:endParaRPr lang="en-US" sz="3000" dirty="0"/>
          </a:p>
        </p:txBody>
      </p:sp>
      <p:pic>
        <p:nvPicPr>
          <p:cNvPr id="5" name="Image 0" descr="pg-2.png"/>
          <p:cNvPicPr>
            <a:picLocks noChangeAspect="1"/>
          </p:cNvPicPr>
          <p:nvPr/>
        </p:nvPicPr>
        <p:blipFill rotWithShape="1">
          <a:blip r:embed="rId3"/>
          <a:srcRect l="7532" t="8561" r="7396" b="14156"/>
          <a:stretch/>
        </p:blipFill>
        <p:spPr>
          <a:xfrm>
            <a:off x="1765738" y="822960"/>
            <a:ext cx="8721484" cy="59422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процесса А2</a:t>
            </a:r>
            <a:endParaRPr lang="en-US" sz="3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185" y="822960"/>
            <a:ext cx="9090071" cy="5937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Clr>
                <a:srgbClr val="E8913A"/>
              </a:buClr>
              <a:buSzPct val="10000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Построена функциональная модель АИС «Sun bag» по методологии DFD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Clr>
                <a:srgbClr val="E8913A"/>
              </a:buClr>
              <a:buSzPct val="10000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Выделены 4 внешние сущности, 6 процессов и 3 хранилища данных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Clr>
                <a:srgbClr val="E8913A"/>
              </a:buClr>
              <a:buSzPct val="10000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Составлена матрица событий, процесс «Управлять закупками» </a:t>
            </a:r>
            <a:r>
              <a:rPr lang="ru-RU" sz="22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детализирован</a:t>
            </a:r>
            <a:endParaRPr lang="en-US" sz="2200" dirty="0" smtClean="0">
              <a:solidFill>
                <a:schemeClr val="tx1">
                  <a:lumMod val="95000"/>
                  <a:lumOff val="5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000"/>
              </a:spcAft>
              <a:buClr>
                <a:srgbClr val="E8913A"/>
              </a:buClr>
              <a:buSzPct val="100000"/>
              <a:buFontTx/>
              <a:buChar char="•"/>
            </a:pPr>
            <a:r>
              <a:rPr lang="ru-RU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Модель показывает, какие данные поступают в систему, где они обрабатываются и какие отчеты формируются</a:t>
            </a:r>
            <a:r>
              <a:rPr lang="ru-RU" sz="2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Clr>
                <a:srgbClr val="E8913A"/>
              </a:buClr>
              <a:buSzPct val="100000"/>
              <a:buChar char="•"/>
            </a:pPr>
            <a:r>
              <a:rPr lang="ru-RU" sz="22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Следующий</a:t>
            </a:r>
            <a:r>
              <a:rPr 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этап — проектирование структуры базы данных</a:t>
            </a:r>
            <a:endParaRPr 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ответить на ваши вопросы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1200</TotalTime>
  <Words>1153</Words>
  <Application>Microsoft Office PowerPoint</Application>
  <PresentationFormat>Широкоэкранный</PresentationFormat>
  <Paragraphs>90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 bag — функциональная модель АИС</dc:title>
  <dc:subject>PptxGenJS Presentation</dc:subject>
  <dc:creator>PptxGenJS</dc:creator>
  <cp:lastModifiedBy>Кира Вараксина</cp:lastModifiedBy>
  <cp:revision>14</cp:revision>
  <dcterms:created xsi:type="dcterms:W3CDTF">2026-10-08T10:47:41Z</dcterms:created>
  <dcterms:modified xsi:type="dcterms:W3CDTF">2026-10-09T08:01:07Z</dcterms:modified>
</cp:coreProperties>
</file>